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Do not read the title aloud. Open with the one sentence the whole talk defends: every cryptographic decision in this system happens on the client, and we assume the server reads everything it is given. Then say what the next 15 minutes cover - threat model, the design, four decisions with measurements, a live demonstration, and the attacks we ran against ourselves. Name who presents which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point of the two columns is that the requirement is not 'protect the server' but 'make the server's honesty irrelevant'. Everything after this slide answers the right-hand column. If asked why we do not simply trust the server: that is the assumption the project forbids, and it is also the realistic one - a hosting provider, a stolen backup, a subpoena.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Emphasise the last sentence: we gave the attacker a stronger position than the specification asks for, because a shared directory means no network race conditions and no timing luck. If asked what is out of scope - a compromised client machine, traffic analysis of file sizes, and denial of service. Section 1.2 of the report lists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and do not explain anything here - this slide is the map. Read the six choices in one pass so the audience knows what is coming, then move on. The sentence that matters is the last one: these decisions came first and the code follows them, which is the difference between a design and a pile of libraries. Four of the six are taken apart in detail later; 7.4 and 7.5 are covered inside the composition and architecture slides. If someone asks here about a rejected alternative, say it is coming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Walk the arrows: both clients write into the shared directory, the server reads and writes the same directory, the CA sits off to one side and its public key reaches clients out of band (the dashed arrow). Then land the footer: making the server able to decrypt anything would require adding an import, which a reviewer would notice. That is a structural argument,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Do not read all seven. Read two - 'read a document' and 'tell whether a share is signed' - and say the rest are in the report. The last row is the one people miss: hiding the signature inside the encrypted payload is why the server cannot even build a social graph of who vouches for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This is where the questioning usually starts. Two things to say out loud. First: what the server receives and what unwraps the private keys are separated by different BLAKE2b personalisation strings, so recovering one from the other means inverting BLAKE2b. Second: the footer - because the private keys are wrapped under a derived key rather than derived from the password, a password change does not invalidate anyone's trust in you. Be ready for: why two key pairs instead of one? Because signing and key agreement interact, and a signing oracle can become an attack on the agreement key. The cost is one extra scalar multiplication,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 spend time here. The measurement is the argument. Say plainly that we rejected PBKDF2 (almost no memory, so GPUs keep their parallel speed-up), bcrypt (4 KiB fits in on-chip memory) and scrypt (fully data-dependent addressing, so cache timing). Argon2id runs the first half-pass data-independent and the rest data-dependent, which is what RFC 9106 recommends when you face both a process observer and a stolen database - and we face both. If asked whether the demo profile is acceptable: it is not, we say so, and the record marks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The honest note matters more than the ratio: we report 3.9x, which is what our actual code achieves, not the 5.9x we could have claimed by dropping the side-channel defence. Why P-256 at all: it is the curve the course covers, p is a Solinas prime and a = -3 admits the cheaper doubling formula, and it is fully specified in FIPS 186-4 so an independent implementation can be checked. What we gave up: Curve25519, where every 32-byte string is a valid public key and invalid-curve attacks do not arise at all. validate_public_key() replaces that property and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Write nothing on the board - the algebra is here. The third card answers the obvious objection: if you deviate from a standard, how do you know the construction is still right? We separated the construction from the MAC so the same code can be checked against the RFC's vectors. Also mention low-s normalisation: without it (r, n-s) is an equally valid signature, so the bytes do not identify a signature uniquely. It does not affect non-repudiation, but we preferred not to build on a value an attacker can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The framing: the specification warns that a design satisfying each property in isolation can still fail when the properties are combined. These are the three places that could have happened to us. Point 2 is where an examiner is most likely to push - explain surreptitious forwarding concretely: without the recipient's name inside the signed region, Omar could re-encrypt Layla's signed document to Sara, and Sara would believe Layla sent it to her. Do not skip the footer; 'why not just a timestamp' is a standard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minutes on the terminal, not on this slide. Show the slide for 15 seconds, say what the nine checks are in one breath, then switch to the terminal and run it with --pause so you can talk over each step. Steps 6, 7 and 8 are the ones to slow down on - that is where the audience sees a failure produced deliberately and caught. If the demo breaks, you have this slide and the attacks slide: say what each step would have shown. Do not debug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Read row 6 aloud and do not soften it: an offline attack on the credential store is not prevented by anything, it is priced. That honesty is worth marks. Then give the attack-5 argument, the strongest methodological point in the project. If asked what the weak client leaks: with one key and one nonce, XOR of two ciphertexts is XOR of two plaintexts, and the GCM authentication key becomes recoverable, so tags can be forged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100% claim is checkable and someone may check it, so be ready to open any file. On the test-only libraries: say explicitly that the published vectors are the primary evidence and the library cross-checks are a second opinion, not the proof. That ordering is what makes the test suite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Present this as a finding, not an apology - every one is in section 5 of the report with what it would cost to fix. The last box is the one to say plainly: we found a timing leak in our own scalar multiplication, fixed the obvious part, measured again, and the numbers showed the fix was incomplete because the Jacobian routines return early on the point at infinity. We wrote that down rather than claiming constant time. If an examiner is going to find one thing, better that we found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slide as it stands. It is a placeholder the three of you fill in before the deadline, and it has to match sections 6 and 7 of the report exactly. Two practical points. First: attribute work to whoever can explain it under questioning, because the mark for individual questioning is awarded per member, not per team. Second: the report and the slide are read by the same person, so a difference between them is worse than either statement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five minutes of questions. Keep a terminal open in another window so you can run anything you are asked to run. If a question is about a file you did not write, say who wrote it and let them answer - that is what the individual questioning measures, and guessing at someone else's code is how a team loses marks it had already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ctr"/>
          <a:lstStyle/>
          <a:p>
            <a:pPr indent="0" marL="0">
              <a:buNone/>
            </a:pPr>
            <a:r>
              <a:rPr lang="en-US" sz="1100" b="1" spc="160" kern="0" dirty="0">
                <a:solidFill>
                  <a:srgbClr val="C96A2B"/>
                </a:solidFill>
                <a:latin typeface="Courier New" pitchFamily="34" charset="0"/>
                <a:ea typeface="Courier New" pitchFamily="34" charset="-122"/>
                <a:cs typeface="Courier New" pitchFamily="34" charset="-120"/>
              </a:rPr>
              <a:t>ENCS4320  APPLIED CRYPTOGRAPHY  ·  TERM 1253</a:t>
            </a:r>
            <a:endParaRPr lang="en-US" sz="1100" dirty="0"/>
          </a:p>
        </p:txBody>
      </p:sp>
      <p:sp>
        <p:nvSpPr>
          <p:cNvPr id="3" name="Text 1"/>
          <p:cNvSpPr txBox="1"/>
          <p:nvPr/>
        </p:nvSpPr>
        <p:spPr>
          <a:xfrm>
            <a:off x="548640" y="1600200"/>
            <a:ext cx="11064240" cy="1234440"/>
          </a:xfrm>
          <a:prstGeom prst="rect">
            <a:avLst/>
          </a:prstGeom>
          <a:noFill/>
          <a:ln/>
        </p:spPr>
        <p:txBody>
          <a:bodyPr wrap="square" lIns="0" tIns="0" rIns="0" bIns="0" rtlCol="0" anchor="ctr"/>
          <a:lstStyle/>
          <a:p>
            <a:pPr indent="0" marL="0">
              <a:buNone/>
            </a:pPr>
            <a:r>
              <a:rPr lang="en-US" sz="6000" b="1" dirty="0">
                <a:solidFill>
                  <a:srgbClr val="F7F8F5"/>
                </a:solidFill>
                <a:latin typeface="Cambria" pitchFamily="34" charset="0"/>
                <a:ea typeface="Cambria" pitchFamily="34" charset="-122"/>
                <a:cs typeface="Cambria" pitchFamily="34" charset="-120"/>
              </a:rPr>
              <a:t>SecureVault</a:t>
            </a:r>
            <a:endParaRPr lang="en-US" sz="6000" dirty="0"/>
          </a:p>
        </p:txBody>
      </p:sp>
      <p:sp>
        <p:nvSpPr>
          <p:cNvPr id="4" name="Text 2"/>
          <p:cNvSpPr txBox="1"/>
          <p:nvPr/>
        </p:nvSpPr>
        <p:spPr>
          <a:xfrm>
            <a:off x="548640" y="2880360"/>
            <a:ext cx="9509760" cy="777240"/>
          </a:xfrm>
          <a:prstGeom prst="rect">
            <a:avLst/>
          </a:prstGeom>
          <a:noFill/>
          <a:ln/>
        </p:spPr>
        <p:txBody>
          <a:bodyPr wrap="square" lIns="0" tIns="0" rIns="0" bIns="0" rtlCol="0" anchor="ctr"/>
          <a:lstStyle/>
          <a:p>
            <a:pPr indent="0" marL="0">
              <a:lnSpc>
                <a:spcPct val="120000"/>
              </a:lnSpc>
              <a:buNone/>
            </a:pPr>
            <a:r>
              <a:rPr lang="en-US" sz="1900" dirty="0">
                <a:solidFill>
                  <a:srgbClr val="B9C4D0"/>
                </a:solidFill>
                <a:latin typeface="Calibri" pitchFamily="34" charset="0"/>
                <a:ea typeface="Calibri" pitchFamily="34" charset="-122"/>
                <a:cs typeface="Calibri" pitchFamily="34" charset="-120"/>
              </a:rPr>
              <a:t>Multi-user encrypted document exchange across a server that is never trusted with a key</a:t>
            </a:r>
            <a:endParaRPr lang="en-US" sz="1900" dirty="0"/>
          </a:p>
        </p:txBody>
      </p:sp>
      <p:sp>
        <p:nvSpPr>
          <p:cNvPr id="5" name="Shape 3"/>
          <p:cNvSpPr/>
          <p:nvPr/>
        </p:nvSpPr>
        <p:spPr>
          <a:xfrm>
            <a:off x="548640" y="4206240"/>
            <a:ext cx="1463040" cy="32004"/>
          </a:xfrm>
          <a:prstGeom prst="rect">
            <a:avLst/>
          </a:prstGeom>
          <a:solidFill>
            <a:srgbClr val="2F6FD0"/>
          </a:solidFill>
          <a:ln/>
        </p:spPr>
      </p:sp>
      <p:sp>
        <p:nvSpPr>
          <p:cNvPr id="6" name="Text 4"/>
          <p:cNvSpPr txBox="1"/>
          <p:nvPr/>
        </p:nvSpPr>
        <p:spPr>
          <a:xfrm>
            <a:off x="548640" y="4526280"/>
            <a:ext cx="11064240" cy="310896"/>
          </a:xfrm>
          <a:prstGeom prst="rect">
            <a:avLst/>
          </a:prstGeom>
          <a:noFill/>
          <a:ln/>
        </p:spPr>
        <p:txBody>
          <a:bodyPr wrap="square" lIns="0" tIns="0" rIns="0" bIns="0" rtlCol="0" anchor="ctr"/>
          <a:lstStyle/>
          <a:p>
            <a:pPr indent="0" marL="0">
              <a:buNone/>
            </a:pPr>
            <a:r>
              <a:rPr lang="en-US" sz="1500" b="1" dirty="0">
                <a:solidFill>
                  <a:srgbClr val="F7F8F5"/>
                </a:solidFill>
                <a:latin typeface="Calibri" pitchFamily="34" charset="0"/>
                <a:ea typeface="Calibri" pitchFamily="34" charset="-122"/>
                <a:cs typeface="Calibri" pitchFamily="34" charset="-120"/>
              </a:rPr>
              <a:t>Abdallah Hattab (1230588)   ·   Abdallah Murra (1230534)   ·   Osama Aabed (1201164)</a:t>
            </a:r>
            <a:endParaRPr lang="en-US" sz="1500" dirty="0"/>
          </a:p>
        </p:txBody>
      </p:sp>
      <p:sp>
        <p:nvSpPr>
          <p:cNvPr id="7" name="Text 5"/>
          <p:cNvSpPr txBox="1"/>
          <p:nvPr/>
        </p:nvSpPr>
        <p:spPr>
          <a:xfrm>
            <a:off x="548640" y="4892040"/>
            <a:ext cx="11064240" cy="274320"/>
          </a:xfrm>
          <a:prstGeom prst="rect">
            <a:avLst/>
          </a:prstGeom>
          <a:noFill/>
          <a:ln/>
        </p:spPr>
        <p:txBody>
          <a:bodyPr wrap="square" lIns="0" tIns="0" rIns="0" bIns="0" rtlCol="0" anchor="ctr"/>
          <a:lstStyle/>
          <a:p>
            <a:pPr indent="0" marL="0">
              <a:buNone/>
            </a:pPr>
            <a:r>
              <a:rPr lang="en-US" sz="1200" dirty="0">
                <a:solidFill>
                  <a:srgbClr val="8E9BAA"/>
                </a:solidFill>
                <a:latin typeface="Calibri" pitchFamily="34" charset="0"/>
                <a:ea typeface="Calibri" pitchFamily="34" charset="-122"/>
                <a:cs typeface="Calibri" pitchFamily="34" charset="-120"/>
              </a:rPr>
              <a:t>Birzeit University — Department of Electrical and Computer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The server is the adversary</a:t>
            </a:r>
            <a:endParaRPr lang="en-US" sz="3200" dirty="0"/>
          </a:p>
        </p:txBody>
      </p:sp>
      <p:sp>
        <p:nvSpPr>
          <p:cNvPr id="3" name="Shape 1"/>
          <p:cNvSpPr/>
          <p:nvPr/>
        </p:nvSpPr>
        <p:spPr>
          <a:xfrm>
            <a:off x="548640" y="1417320"/>
            <a:ext cx="5349240" cy="2514600"/>
          </a:xfrm>
          <a:prstGeom prst="roundRect">
            <a:avLst>
              <a:gd name="adj" fmla="val 2182"/>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4" name="Text 2"/>
          <p:cNvSpPr txBox="1"/>
          <p:nvPr/>
        </p:nvSpPr>
        <p:spPr>
          <a:xfrm>
            <a:off x="868680" y="1645920"/>
            <a:ext cx="4709160" cy="292608"/>
          </a:xfrm>
          <a:prstGeom prst="rect">
            <a:avLst/>
          </a:prstGeom>
          <a:noFill/>
          <a:ln/>
        </p:spPr>
        <p:txBody>
          <a:bodyPr wrap="square" lIns="0" tIns="0" rIns="0" bIns="0" rtlCol="0" anchor="ctr"/>
          <a:lstStyle/>
          <a:p>
            <a:pPr indent="0" marL="0">
              <a:buNone/>
            </a:pPr>
            <a:r>
              <a:rPr lang="en-US" sz="1600" b="1" dirty="0">
                <a:solidFill>
                  <a:srgbClr val="2F6FD0"/>
                </a:solidFill>
                <a:latin typeface="Calibri" pitchFamily="34" charset="0"/>
                <a:ea typeface="Calibri" pitchFamily="34" charset="-122"/>
                <a:cs typeface="Calibri" pitchFamily="34" charset="-120"/>
              </a:rPr>
              <a:t>It has to be able to</a:t>
            </a:r>
            <a:endParaRPr lang="en-US" sz="1600" dirty="0"/>
          </a:p>
        </p:txBody>
      </p:sp>
      <p:sp>
        <p:nvSpPr>
          <p:cNvPr id="5" name="Text 3"/>
          <p:cNvSpPr txBox="1"/>
          <p:nvPr/>
        </p:nvSpPr>
        <p:spPr>
          <a:xfrm>
            <a:off x="868680" y="2084832"/>
            <a:ext cx="4709160" cy="1691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C4655"/>
                </a:solidFill>
                <a:latin typeface="Calibri" pitchFamily="34" charset="0"/>
                <a:ea typeface="Calibri" pitchFamily="34" charset="-122"/>
                <a:cs typeface="Calibri" pitchFamily="34" charset="-120"/>
              </a:rPr>
              <a:t>store documents and hand them back</a:t>
            </a:r>
            <a:endParaRPr lang="en-US" sz="1400" dirty="0"/>
          </a:p>
          <a:p>
            <a:pPr marL="342900" indent="-342900">
              <a:spcAft>
                <a:spcPts val="600"/>
              </a:spcAft>
              <a:buSzPct val="100000"/>
              <a:buChar char="•"/>
            </a:pPr>
            <a:r>
              <a:rPr lang="en-US" sz="1400" dirty="0">
                <a:solidFill>
                  <a:srgbClr val="3C4655"/>
                </a:solidFill>
                <a:latin typeface="Calibri" pitchFamily="34" charset="0"/>
                <a:ea typeface="Calibri" pitchFamily="34" charset="-122"/>
                <a:cs typeface="Calibri" pitchFamily="34" charset="-120"/>
              </a:rPr>
              <a:t>relay shares from one user to another</a:t>
            </a:r>
            <a:endParaRPr lang="en-US" sz="1400" dirty="0"/>
          </a:p>
          <a:p>
            <a:pPr marL="342900" indent="-342900">
              <a:spcAft>
                <a:spcPts val="600"/>
              </a:spcAft>
              <a:buSzPct val="100000"/>
              <a:buChar char="•"/>
            </a:pPr>
            <a:r>
              <a:rPr lang="en-US" sz="1400" dirty="0">
                <a:solidFill>
                  <a:srgbClr val="3C4655"/>
                </a:solidFill>
                <a:latin typeface="Calibri" pitchFamily="34" charset="0"/>
                <a:ea typeface="Calibri" pitchFamily="34" charset="-122"/>
                <a:cs typeface="Calibri" pitchFamily="34" charset="-120"/>
              </a:rPr>
              <a:t>authenticate whoever is asking</a:t>
            </a:r>
            <a:endParaRPr lang="en-US" sz="1400" dirty="0"/>
          </a:p>
          <a:p>
            <a:pPr marL="342900" indent="-342900">
              <a:spcAft>
                <a:spcPts val="600"/>
              </a:spcAft>
              <a:buSzPct val="100000"/>
              <a:buChar char="•"/>
            </a:pPr>
            <a:r>
              <a:rPr lang="en-US" sz="1400" dirty="0">
                <a:solidFill>
                  <a:srgbClr val="3C4655"/>
                </a:solidFill>
                <a:latin typeface="Calibri" pitchFamily="34" charset="0"/>
                <a:ea typeface="Calibri" pitchFamily="34" charset="-122"/>
                <a:cs typeface="Calibri" pitchFamily="34" charset="-120"/>
              </a:rPr>
              <a:t>list what exists and who owns it</a:t>
            </a:r>
            <a:endParaRPr lang="en-US" sz="1400" dirty="0"/>
          </a:p>
        </p:txBody>
      </p:sp>
      <p:sp>
        <p:nvSpPr>
          <p:cNvPr id="6" name="Shape 4"/>
          <p:cNvSpPr/>
          <p:nvPr/>
        </p:nvSpPr>
        <p:spPr>
          <a:xfrm>
            <a:off x="6263640" y="1417320"/>
            <a:ext cx="5349240" cy="2514600"/>
          </a:xfrm>
          <a:prstGeom prst="roundRect">
            <a:avLst>
              <a:gd name="adj" fmla="val 2182"/>
            </a:avLst>
          </a:prstGeom>
          <a:solidFill>
            <a:srgbClr val="111820"/>
          </a:solidFill>
          <a:ln/>
        </p:spPr>
      </p:sp>
      <p:sp>
        <p:nvSpPr>
          <p:cNvPr id="7" name="Text 5"/>
          <p:cNvSpPr txBox="1"/>
          <p:nvPr/>
        </p:nvSpPr>
        <p:spPr>
          <a:xfrm>
            <a:off x="6583680" y="1645920"/>
            <a:ext cx="4709160" cy="292608"/>
          </a:xfrm>
          <a:prstGeom prst="rect">
            <a:avLst/>
          </a:prstGeom>
          <a:noFill/>
          <a:ln/>
        </p:spPr>
        <p:txBody>
          <a:bodyPr wrap="square" lIns="0" tIns="0" rIns="0" bIns="0" rtlCol="0" anchor="ctr"/>
          <a:lstStyle/>
          <a:p>
            <a:pPr indent="0" marL="0">
              <a:buNone/>
            </a:pPr>
            <a:r>
              <a:rPr lang="en-US" sz="1600" b="1" dirty="0">
                <a:solidFill>
                  <a:srgbClr val="E08A4A"/>
                </a:solidFill>
                <a:latin typeface="Calibri" pitchFamily="34" charset="0"/>
                <a:ea typeface="Calibri" pitchFamily="34" charset="-122"/>
                <a:cs typeface="Calibri" pitchFamily="34" charset="-120"/>
              </a:rPr>
              <a:t>It must never learn</a:t>
            </a:r>
            <a:endParaRPr lang="en-US" sz="1600" dirty="0"/>
          </a:p>
        </p:txBody>
      </p:sp>
      <p:sp>
        <p:nvSpPr>
          <p:cNvPr id="8" name="Text 6"/>
          <p:cNvSpPr txBox="1"/>
          <p:nvPr/>
        </p:nvSpPr>
        <p:spPr>
          <a:xfrm>
            <a:off x="6583680" y="2084832"/>
            <a:ext cx="4709160" cy="1691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6DEE6"/>
                </a:solidFill>
                <a:latin typeface="Calibri" pitchFamily="34" charset="0"/>
                <a:ea typeface="Calibri" pitchFamily="34" charset="-122"/>
                <a:cs typeface="Calibri" pitchFamily="34" charset="-120"/>
              </a:rPr>
              <a:t>the contents of any document</a:t>
            </a:r>
            <a:endParaRPr lang="en-US" sz="1400" dirty="0"/>
          </a:p>
          <a:p>
            <a:pPr marL="342900" indent="-342900">
              <a:spcAft>
                <a:spcPts val="600"/>
              </a:spcAft>
              <a:buSzPct val="100000"/>
              <a:buChar char="•"/>
            </a:pPr>
            <a:r>
              <a:rPr lang="en-US" sz="1400" dirty="0">
                <a:solidFill>
                  <a:srgbClr val="D6DEE6"/>
                </a:solidFill>
                <a:latin typeface="Calibri" pitchFamily="34" charset="0"/>
                <a:ea typeface="Calibri" pitchFamily="34" charset="-122"/>
                <a:cs typeface="Calibri" pitchFamily="34" charset="-120"/>
              </a:rPr>
              <a:t>any user's private key</a:t>
            </a:r>
            <a:endParaRPr lang="en-US" sz="1400" dirty="0"/>
          </a:p>
          <a:p>
            <a:pPr marL="342900" indent="-342900">
              <a:spcAft>
                <a:spcPts val="600"/>
              </a:spcAft>
              <a:buSzPct val="100000"/>
              <a:buChar char="•"/>
            </a:pPr>
            <a:r>
              <a:rPr lang="en-US" sz="1400" dirty="0">
                <a:solidFill>
                  <a:srgbClr val="D6DEE6"/>
                </a:solidFill>
                <a:latin typeface="Calibri" pitchFamily="34" charset="0"/>
                <a:ea typeface="Calibri" pitchFamily="34" charset="-122"/>
                <a:cs typeface="Calibri" pitchFamily="34" charset="-120"/>
              </a:rPr>
              <a:t>any user's password</a:t>
            </a:r>
            <a:endParaRPr lang="en-US" sz="1400" dirty="0"/>
          </a:p>
          <a:p>
            <a:pPr marL="342900" indent="-342900">
              <a:spcAft>
                <a:spcPts val="600"/>
              </a:spcAft>
              <a:buSzPct val="100000"/>
              <a:buChar char="•"/>
            </a:pPr>
            <a:r>
              <a:rPr lang="en-US" sz="1400" dirty="0">
                <a:solidFill>
                  <a:srgbClr val="D6DEE6"/>
                </a:solidFill>
                <a:latin typeface="Calibri" pitchFamily="34" charset="0"/>
                <a:ea typeface="Calibri" pitchFamily="34" charset="-122"/>
                <a:cs typeface="Calibri" pitchFamily="34" charset="-120"/>
              </a:rPr>
              <a:t>any key that opens a document</a:t>
            </a:r>
            <a:endParaRPr lang="en-US" sz="1400" dirty="0"/>
          </a:p>
        </p:txBody>
      </p:sp>
      <p:sp>
        <p:nvSpPr>
          <p:cNvPr id="9" name="Text 7"/>
          <p:cNvSpPr txBox="1"/>
          <p:nvPr/>
        </p:nvSpPr>
        <p:spPr>
          <a:xfrm>
            <a:off x="548640" y="4297680"/>
            <a:ext cx="11064240" cy="731520"/>
          </a:xfrm>
          <a:prstGeom prst="rect">
            <a:avLst/>
          </a:prstGeom>
          <a:noFill/>
          <a:ln/>
        </p:spPr>
        <p:txBody>
          <a:bodyPr wrap="square" lIns="0" tIns="0" rIns="0" bIns="0" rtlCol="0" anchor="t"/>
          <a:lstStyle/>
          <a:p>
            <a:pPr algn="l" indent="0" marL="0">
              <a:lnSpc>
                <a:spcPct val="118000"/>
              </a:lnSpc>
              <a:buNone/>
            </a:pPr>
            <a:r>
              <a:rPr lang="en-US" sz="1500" dirty="0">
                <a:solidFill>
                  <a:srgbClr val="3C4655"/>
                </a:solidFill>
                <a:latin typeface="Calibri" pitchFamily="34" charset="0"/>
                <a:ea typeface="Calibri" pitchFamily="34" charset="-122"/>
                <a:cs typeface="Calibri" pitchFamily="34" charset="-120"/>
              </a:rPr>
              <a:t>It is honest-but-curious: it follows the protocol, neither deletes nor fabricates, and reads everything it is given. We also assume its entire database ends up in an attacker's hands.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FEA"/>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Threat model</a:t>
            </a:r>
            <a:endParaRPr lang="en-US" sz="3200" dirty="0"/>
          </a:p>
        </p:txBody>
      </p:sp>
      <p:sp>
        <p:nvSpPr>
          <p:cNvPr id="3" name="Shape 1"/>
          <p:cNvSpPr/>
          <p:nvPr/>
        </p:nvSpPr>
        <p:spPr>
          <a:xfrm>
            <a:off x="548640" y="1371600"/>
            <a:ext cx="3502152"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4" name="Shape 2"/>
          <p:cNvSpPr/>
          <p:nvPr/>
        </p:nvSpPr>
        <p:spPr>
          <a:xfrm>
            <a:off x="822960" y="1600200"/>
            <a:ext cx="420624" cy="420624"/>
          </a:xfrm>
          <a:prstGeom prst="ellipse">
            <a:avLst/>
          </a:prstGeom>
          <a:solidFill>
            <a:srgbClr val="2F6FD0"/>
          </a:solidFill>
          <a:ln/>
        </p:spPr>
      </p:sp>
      <p:sp>
        <p:nvSpPr>
          <p:cNvPr id="5" name="Text 3"/>
          <p:cNvSpPr txBox="1"/>
          <p:nvPr/>
        </p:nvSpPr>
        <p:spPr>
          <a:xfrm>
            <a:off x="822960" y="16002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35024" y="1627632"/>
            <a:ext cx="2404872" cy="292608"/>
          </a:xfrm>
          <a:prstGeom prst="rect">
            <a:avLst/>
          </a:prstGeom>
          <a:noFill/>
          <a:ln/>
        </p:spPr>
        <p:txBody>
          <a:bodyPr wrap="square" lIns="0" tIns="0" rIns="0" bIns="0" rtlCol="0" anchor="ctr"/>
          <a:lstStyle/>
          <a:p>
            <a:pPr indent="0" marL="0">
              <a:buNone/>
            </a:pPr>
            <a:r>
              <a:rPr lang="en-US" sz="1600" b="1" dirty="0">
                <a:solidFill>
                  <a:srgbClr val="111820"/>
                </a:solidFill>
                <a:latin typeface="Calibri" pitchFamily="34" charset="0"/>
                <a:ea typeface="Calibri" pitchFamily="34" charset="-122"/>
                <a:cs typeface="Calibri" pitchFamily="34" charset="-120"/>
              </a:rPr>
              <a:t>Users</a:t>
            </a:r>
            <a:endParaRPr lang="en-US" sz="1600" dirty="0"/>
          </a:p>
        </p:txBody>
      </p:sp>
      <p:sp>
        <p:nvSpPr>
          <p:cNvPr id="7" name="Text 5"/>
          <p:cNvSpPr txBox="1"/>
          <p:nvPr/>
        </p:nvSpPr>
        <p:spPr>
          <a:xfrm>
            <a:off x="822960" y="2176272"/>
            <a:ext cx="2953512" cy="86868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Run our client on machines we assume are trustworthy. The password is known only to them.</a:t>
            </a:r>
            <a:endParaRPr lang="en-US" sz="1250" dirty="0"/>
          </a:p>
        </p:txBody>
      </p:sp>
      <p:sp>
        <p:nvSpPr>
          <p:cNvPr id="8" name="Shape 6"/>
          <p:cNvSpPr/>
          <p:nvPr/>
        </p:nvSpPr>
        <p:spPr>
          <a:xfrm>
            <a:off x="4334256" y="1371600"/>
            <a:ext cx="3502152"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9" name="Shape 7"/>
          <p:cNvSpPr/>
          <p:nvPr/>
        </p:nvSpPr>
        <p:spPr>
          <a:xfrm>
            <a:off x="4608576" y="1600200"/>
            <a:ext cx="420624" cy="420624"/>
          </a:xfrm>
          <a:prstGeom prst="ellipse">
            <a:avLst/>
          </a:prstGeom>
          <a:solidFill>
            <a:srgbClr val="C96A2B"/>
          </a:solidFill>
          <a:ln/>
        </p:spPr>
      </p:sp>
      <p:sp>
        <p:nvSpPr>
          <p:cNvPr id="10" name="Text 8"/>
          <p:cNvSpPr txBox="1"/>
          <p:nvPr/>
        </p:nvSpPr>
        <p:spPr>
          <a:xfrm>
            <a:off x="4608576" y="16002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5120640" y="1627632"/>
            <a:ext cx="2404872" cy="292608"/>
          </a:xfrm>
          <a:prstGeom prst="rect">
            <a:avLst/>
          </a:prstGeom>
          <a:noFill/>
          <a:ln/>
        </p:spPr>
        <p:txBody>
          <a:bodyPr wrap="square" lIns="0" tIns="0" rIns="0" bIns="0" rtlCol="0" anchor="ctr"/>
          <a:lstStyle/>
          <a:p>
            <a:pPr indent="0" marL="0">
              <a:buNone/>
            </a:pPr>
            <a:r>
              <a:rPr lang="en-US" sz="1600" b="1" dirty="0">
                <a:solidFill>
                  <a:srgbClr val="111820"/>
                </a:solidFill>
                <a:latin typeface="Calibri" pitchFamily="34" charset="0"/>
                <a:ea typeface="Calibri" pitchFamily="34" charset="-122"/>
                <a:cs typeface="Calibri" pitchFamily="34" charset="-120"/>
              </a:rPr>
              <a:t>The server</a:t>
            </a:r>
            <a:endParaRPr lang="en-US" sz="1600" dirty="0"/>
          </a:p>
        </p:txBody>
      </p:sp>
      <p:sp>
        <p:nvSpPr>
          <p:cNvPr id="12" name="Text 10"/>
          <p:cNvSpPr txBox="1"/>
          <p:nvPr/>
        </p:nvSpPr>
        <p:spPr>
          <a:xfrm>
            <a:off x="4608576" y="2176272"/>
            <a:ext cx="2953512" cy="86868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Honest-but-curious. Follows the protocol, reads everything, and its whole database may be dumped.</a:t>
            </a:r>
            <a:endParaRPr lang="en-US" sz="1250" dirty="0"/>
          </a:p>
        </p:txBody>
      </p:sp>
      <p:sp>
        <p:nvSpPr>
          <p:cNvPr id="13" name="Shape 11"/>
          <p:cNvSpPr/>
          <p:nvPr/>
        </p:nvSpPr>
        <p:spPr>
          <a:xfrm>
            <a:off x="8119872" y="1371600"/>
            <a:ext cx="3502152"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4" name="Shape 12"/>
          <p:cNvSpPr/>
          <p:nvPr/>
        </p:nvSpPr>
        <p:spPr>
          <a:xfrm>
            <a:off x="8394192" y="1600200"/>
            <a:ext cx="420624" cy="420624"/>
          </a:xfrm>
          <a:prstGeom prst="ellipse">
            <a:avLst/>
          </a:prstGeom>
          <a:solidFill>
            <a:srgbClr val="2F6FD0"/>
          </a:solidFill>
          <a:ln/>
        </p:spPr>
      </p:sp>
      <p:sp>
        <p:nvSpPr>
          <p:cNvPr id="15" name="Text 13"/>
          <p:cNvSpPr txBox="1"/>
          <p:nvPr/>
        </p:nvSpPr>
        <p:spPr>
          <a:xfrm>
            <a:off x="8394192" y="16002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8906256" y="1627632"/>
            <a:ext cx="2404872" cy="292608"/>
          </a:xfrm>
          <a:prstGeom prst="rect">
            <a:avLst/>
          </a:prstGeom>
          <a:noFill/>
          <a:ln/>
        </p:spPr>
        <p:txBody>
          <a:bodyPr wrap="square" lIns="0" tIns="0" rIns="0" bIns="0" rtlCol="0" anchor="ctr"/>
          <a:lstStyle/>
          <a:p>
            <a:pPr indent="0" marL="0">
              <a:buNone/>
            </a:pPr>
            <a:r>
              <a:rPr lang="en-US" sz="1600" b="1" dirty="0">
                <a:solidFill>
                  <a:srgbClr val="111820"/>
                </a:solidFill>
                <a:latin typeface="Calibri" pitchFamily="34" charset="0"/>
                <a:ea typeface="Calibri" pitchFamily="34" charset="-122"/>
                <a:cs typeface="Calibri" pitchFamily="34" charset="-120"/>
              </a:rPr>
              <a:t>The CA</a:t>
            </a:r>
            <a:endParaRPr lang="en-US" sz="1600" dirty="0"/>
          </a:p>
        </p:txBody>
      </p:sp>
      <p:sp>
        <p:nvSpPr>
          <p:cNvPr id="17" name="Text 15"/>
          <p:cNvSpPr txBox="1"/>
          <p:nvPr/>
        </p:nvSpPr>
        <p:spPr>
          <a:xfrm>
            <a:off x="8394192" y="2176272"/>
            <a:ext cx="2953512" cy="86868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A separate program, trusted to bind names to keys. An assumption, not a result - and we say what it costs.</a:t>
            </a:r>
            <a:endParaRPr lang="en-US" sz="1250" dirty="0"/>
          </a:p>
        </p:txBody>
      </p:sp>
      <p:sp>
        <p:nvSpPr>
          <p:cNvPr id="18" name="Shape 16"/>
          <p:cNvSpPr/>
          <p:nvPr/>
        </p:nvSpPr>
        <p:spPr>
          <a:xfrm>
            <a:off x="548640" y="3429000"/>
            <a:ext cx="11064240" cy="1691640"/>
          </a:xfrm>
          <a:prstGeom prst="roundRect">
            <a:avLst>
              <a:gd name="adj" fmla="val 3243"/>
            </a:avLst>
          </a:prstGeom>
          <a:solidFill>
            <a:srgbClr val="111820"/>
          </a:solidFill>
          <a:ln/>
        </p:spPr>
      </p:sp>
      <p:sp>
        <p:nvSpPr>
          <p:cNvPr id="19" name="Text 17"/>
          <p:cNvSpPr txBox="1"/>
          <p:nvPr/>
        </p:nvSpPr>
        <p:spPr>
          <a:xfrm>
            <a:off x="896112" y="3639312"/>
            <a:ext cx="10369296" cy="292608"/>
          </a:xfrm>
          <a:prstGeom prst="rect">
            <a:avLst/>
          </a:prstGeom>
          <a:noFill/>
          <a:ln/>
        </p:spPr>
        <p:txBody>
          <a:bodyPr wrap="square" lIns="0" tIns="0" rIns="0" bIns="0" rtlCol="0" anchor="ctr"/>
          <a:lstStyle/>
          <a:p>
            <a:pPr indent="0" marL="0">
              <a:buNone/>
            </a:pPr>
            <a:r>
              <a:rPr lang="en-US" sz="1600" b="1" dirty="0">
                <a:solidFill>
                  <a:srgbClr val="E08A4A"/>
                </a:solidFill>
                <a:latin typeface="Calibri" pitchFamily="34" charset="0"/>
                <a:ea typeface="Calibri" pitchFamily="34" charset="-122"/>
                <a:cs typeface="Calibri" pitchFamily="34" charset="-120"/>
              </a:rPr>
              <a:t>The attacker</a:t>
            </a:r>
            <a:endParaRPr lang="en-US" sz="1600" dirty="0"/>
          </a:p>
        </p:txBody>
      </p:sp>
      <p:sp>
        <p:nvSpPr>
          <p:cNvPr id="20" name="Text 18"/>
          <p:cNvSpPr txBox="1"/>
          <p:nvPr/>
        </p:nvSpPr>
        <p:spPr>
          <a:xfrm>
            <a:off x="896112" y="4041648"/>
            <a:ext cx="10369296" cy="1005840"/>
          </a:xfrm>
          <a:prstGeom prst="rect">
            <a:avLst/>
          </a:prstGeom>
          <a:noFill/>
          <a:ln/>
        </p:spPr>
        <p:txBody>
          <a:bodyPr wrap="square" lIns="0" tIns="0" rIns="0" bIns="0" rtlCol="0" anchor="t"/>
          <a:lstStyle/>
          <a:p>
            <a:pPr algn="l" indent="0" marL="0">
              <a:lnSpc>
                <a:spcPct val="118000"/>
              </a:lnSpc>
              <a:buNone/>
            </a:pPr>
            <a:r>
              <a:rPr lang="en-US" sz="1400" dirty="0">
                <a:solidFill>
                  <a:srgbClr val="D6DEE6"/>
                </a:solidFill>
                <a:latin typeface="Calibri" pitchFamily="34" charset="0"/>
                <a:ea typeface="Calibri" pitchFamily="34" charset="-122"/>
                <a:cs typeface="Calibri" pitchFamily="34" charset="-120"/>
              </a:rPr>
              <a:t>Observes and modifies all traffic, replays old messages, registers accounts, and may hold a full copy of the server's data. In our simulated network the channel is a shared directory, so the attacker does not race anything - it opens the files and edits them. Every attack we ran works from that position.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Our six design decisions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77240"/>
                <a:gridCol w="3337560"/>
                <a:gridCol w="6949440"/>
              </a:tblGrid>
              <a:tr h="402336">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the question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what we chose</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r>
              <a:tr h="402336">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protecting the password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Argon2id, per-user 16-byte salt — over PBKDF2, bcrypt and scrypt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protecting document contents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AES-128-GCM, a fresh key per document, metadata in the AAD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402336">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public-key cryptography</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ECDH and ECDSA on NIST P-256, BLAKE2b-256 digests, RFC 6979 nonces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trusting a public key</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 certificate authority we implemented, plus fingerprint comparison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402336">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signatures or MACs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both, by role — GCM tags for our own data, ECDSA where a third party must be convinced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architecture and formats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 shared directory as the channel, and seven byte-level object formats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bl>
          </a:graphicData>
        </a:graphic>
      </p:graphicFrame>
      <p:sp>
        <p:nvSpPr>
          <p:cNvPr id="4" name="Text 1"/>
          <p:cNvSpPr txBox="1"/>
          <p:nvPr/>
        </p:nvSpPr>
        <p:spPr>
          <a:xfrm>
            <a:off x="548640" y="4892040"/>
            <a:ext cx="11064240" cy="640080"/>
          </a:xfrm>
          <a:prstGeom prst="rect">
            <a:avLst/>
          </a:prstGeom>
          <a:noFill/>
          <a:ln/>
        </p:spPr>
        <p:txBody>
          <a:bodyPr wrap="square" lIns="0" tIns="0" rIns="0" bIns="0" rtlCol="0" anchor="t"/>
          <a:lstStyle/>
          <a:p>
            <a:pPr algn="l" indent="0" marL="0">
              <a:lnSpc>
                <a:spcPct val="118000"/>
              </a:lnSpc>
              <a:buNone/>
            </a:pPr>
            <a:r>
              <a:rPr lang="en-US" sz="1450" dirty="0">
                <a:solidFill>
                  <a:srgbClr val="3C4655"/>
                </a:solidFill>
                <a:latin typeface="Calibri" pitchFamily="34" charset="0"/>
                <a:ea typeface="Calibri" pitchFamily="34" charset="-122"/>
                <a:cs typeface="Calibri" pitchFamily="34" charset="-120"/>
              </a:rPr>
              <a:t>All six were decided before a line of code was written, and the implementation follows them. The rest of this talk is the justification, one decision at a time.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Three programs and one shared directory</a:t>
            </a:r>
            <a:endParaRPr lang="en-US" sz="3200" dirty="0"/>
          </a:p>
        </p:txBody>
      </p:sp>
      <p:sp>
        <p:nvSpPr>
          <p:cNvPr id="3" name="Shape 1"/>
          <p:cNvSpPr/>
          <p:nvPr/>
        </p:nvSpPr>
        <p:spPr>
          <a:xfrm>
            <a:off x="548640" y="1325880"/>
            <a:ext cx="3657600" cy="914400"/>
          </a:xfrm>
          <a:prstGeom prst="roundRect">
            <a:avLst>
              <a:gd name="adj" fmla="val 6000"/>
            </a:avLst>
          </a:prstGeom>
          <a:solidFill>
            <a:srgbClr val="FFFFFF"/>
          </a:solidFill>
          <a:ln w="12700">
            <a:solidFill>
              <a:srgbClr val="2F6FD0"/>
            </a:solidFill>
            <a:prstDash val="solid"/>
          </a:ln>
          <a:effectLst>
            <a:outerShdw sx="100000" sy="100000" kx="0" ky="0" algn="bl" rotWithShape="0" blurRad="76200" dist="12700" dir="5400000">
              <a:srgbClr val="9AA4B0">
                <a:alpha val="22000"/>
              </a:srgbClr>
            </a:outerShdw>
          </a:effectLst>
        </p:spPr>
      </p:sp>
      <p:sp>
        <p:nvSpPr>
          <p:cNvPr id="4" name="Text 2"/>
          <p:cNvSpPr txBox="1"/>
          <p:nvPr/>
        </p:nvSpPr>
        <p:spPr>
          <a:xfrm>
            <a:off x="548640" y="1453896"/>
            <a:ext cx="3657600" cy="329184"/>
          </a:xfrm>
          <a:prstGeom prst="rect">
            <a:avLst/>
          </a:prstGeom>
          <a:noFill/>
          <a:ln/>
        </p:spPr>
        <p:txBody>
          <a:bodyPr wrap="square" lIns="0" tIns="0" rIns="0" bIns="0" rtlCol="0" anchor="ctr"/>
          <a:lstStyle/>
          <a:p>
            <a:pPr algn="ctr" indent="0" marL="0">
              <a:buNone/>
            </a:pPr>
            <a:r>
              <a:rPr lang="en-US" sz="1600" b="1" dirty="0">
                <a:solidFill>
                  <a:srgbClr val="111820"/>
                </a:solidFill>
                <a:latin typeface="Calibri" pitchFamily="34" charset="0"/>
                <a:ea typeface="Calibri" pitchFamily="34" charset="-122"/>
                <a:cs typeface="Calibri" pitchFamily="34" charset="-120"/>
              </a:rPr>
              <a:t>Layla's client</a:t>
            </a:r>
            <a:endParaRPr lang="en-US" sz="1600" dirty="0"/>
          </a:p>
        </p:txBody>
      </p:sp>
      <p:sp>
        <p:nvSpPr>
          <p:cNvPr id="5" name="Text 3"/>
          <p:cNvSpPr txBox="1"/>
          <p:nvPr/>
        </p:nvSpPr>
        <p:spPr>
          <a:xfrm>
            <a:off x="676656" y="1783080"/>
            <a:ext cx="3401568" cy="347472"/>
          </a:xfrm>
          <a:prstGeom prst="rect">
            <a:avLst/>
          </a:prstGeom>
          <a:noFill/>
          <a:ln/>
        </p:spPr>
        <p:txBody>
          <a:bodyPr wrap="square" lIns="0" tIns="0" rIns="0" bIns="0" rtlCol="0" anchor="ctr"/>
          <a:lstStyle/>
          <a:p>
            <a:pPr algn="ctr" indent="0" marL="0">
              <a:buNone/>
            </a:pPr>
            <a:r>
              <a:rPr lang="en-US" sz="1200" dirty="0">
                <a:solidFill>
                  <a:srgbClr val="2F6FD0"/>
                </a:solidFill>
                <a:latin typeface="Courier New" pitchFamily="34" charset="0"/>
                <a:ea typeface="Courier New" pitchFamily="34" charset="-122"/>
                <a:cs typeface="Courier New" pitchFamily="34" charset="-120"/>
              </a:rPr>
              <a:t>ALL crypto</a:t>
            </a:r>
            <a:endParaRPr lang="en-US" sz="1200" dirty="0"/>
          </a:p>
        </p:txBody>
      </p:sp>
      <p:sp>
        <p:nvSpPr>
          <p:cNvPr id="6" name="Shape 4"/>
          <p:cNvSpPr/>
          <p:nvPr/>
        </p:nvSpPr>
        <p:spPr>
          <a:xfrm>
            <a:off x="7955280" y="1325880"/>
            <a:ext cx="3657600" cy="914400"/>
          </a:xfrm>
          <a:prstGeom prst="roundRect">
            <a:avLst>
              <a:gd name="adj" fmla="val 6000"/>
            </a:avLst>
          </a:prstGeom>
          <a:solidFill>
            <a:srgbClr val="FFFFFF"/>
          </a:solidFill>
          <a:ln w="12700">
            <a:solidFill>
              <a:srgbClr val="2F6FD0"/>
            </a:solidFill>
            <a:prstDash val="solid"/>
          </a:ln>
          <a:effectLst>
            <a:outerShdw sx="100000" sy="100000" kx="0" ky="0" algn="bl" rotWithShape="0" blurRad="76200" dist="12700" dir="5400000">
              <a:srgbClr val="9AA4B0">
                <a:alpha val="22000"/>
              </a:srgbClr>
            </a:outerShdw>
          </a:effectLst>
        </p:spPr>
      </p:sp>
      <p:sp>
        <p:nvSpPr>
          <p:cNvPr id="7" name="Text 5"/>
          <p:cNvSpPr txBox="1"/>
          <p:nvPr/>
        </p:nvSpPr>
        <p:spPr>
          <a:xfrm>
            <a:off x="7955280" y="1453896"/>
            <a:ext cx="3657600" cy="329184"/>
          </a:xfrm>
          <a:prstGeom prst="rect">
            <a:avLst/>
          </a:prstGeom>
          <a:noFill/>
          <a:ln/>
        </p:spPr>
        <p:txBody>
          <a:bodyPr wrap="square" lIns="0" tIns="0" rIns="0" bIns="0" rtlCol="0" anchor="ctr"/>
          <a:lstStyle/>
          <a:p>
            <a:pPr algn="ctr" indent="0" marL="0">
              <a:buNone/>
            </a:pPr>
            <a:r>
              <a:rPr lang="en-US" sz="1600" b="1" dirty="0">
                <a:solidFill>
                  <a:srgbClr val="111820"/>
                </a:solidFill>
                <a:latin typeface="Calibri" pitchFamily="34" charset="0"/>
                <a:ea typeface="Calibri" pitchFamily="34" charset="-122"/>
                <a:cs typeface="Calibri" pitchFamily="34" charset="-120"/>
              </a:rPr>
              <a:t>Omar's client</a:t>
            </a:r>
            <a:endParaRPr lang="en-US" sz="1600" dirty="0"/>
          </a:p>
        </p:txBody>
      </p:sp>
      <p:sp>
        <p:nvSpPr>
          <p:cNvPr id="8" name="Text 6"/>
          <p:cNvSpPr txBox="1"/>
          <p:nvPr/>
        </p:nvSpPr>
        <p:spPr>
          <a:xfrm>
            <a:off x="8083296" y="1783080"/>
            <a:ext cx="3401568" cy="347472"/>
          </a:xfrm>
          <a:prstGeom prst="rect">
            <a:avLst/>
          </a:prstGeom>
          <a:noFill/>
          <a:ln/>
        </p:spPr>
        <p:txBody>
          <a:bodyPr wrap="square" lIns="0" tIns="0" rIns="0" bIns="0" rtlCol="0" anchor="ctr"/>
          <a:lstStyle/>
          <a:p>
            <a:pPr algn="ctr" indent="0" marL="0">
              <a:buNone/>
            </a:pPr>
            <a:r>
              <a:rPr lang="en-US" sz="1200" dirty="0">
                <a:solidFill>
                  <a:srgbClr val="2F6FD0"/>
                </a:solidFill>
                <a:latin typeface="Courier New" pitchFamily="34" charset="0"/>
                <a:ea typeface="Courier New" pitchFamily="34" charset="-122"/>
                <a:cs typeface="Courier New" pitchFamily="34" charset="-120"/>
              </a:rPr>
              <a:t>ALL crypto</a:t>
            </a:r>
            <a:endParaRPr lang="en-US" sz="1200" dirty="0"/>
          </a:p>
        </p:txBody>
      </p:sp>
      <p:sp>
        <p:nvSpPr>
          <p:cNvPr id="9" name="Shape 7"/>
          <p:cNvSpPr/>
          <p:nvPr/>
        </p:nvSpPr>
        <p:spPr>
          <a:xfrm>
            <a:off x="2194560" y="2834640"/>
            <a:ext cx="7772400" cy="822960"/>
          </a:xfrm>
          <a:prstGeom prst="roundRect">
            <a:avLst>
              <a:gd name="adj" fmla="val 6667"/>
            </a:avLst>
          </a:prstGeom>
          <a:solidFill>
            <a:srgbClr val="111820"/>
          </a:solidFill>
          <a:ln w="12700">
            <a:solidFill>
              <a:srgbClr val="111820"/>
            </a:solidFill>
            <a:prstDash val="solid"/>
          </a:ln>
          <a:effectLst>
            <a:outerShdw sx="100000" sy="100000" kx="0" ky="0" algn="bl" rotWithShape="0" blurRad="76200" dist="12700" dir="5400000">
              <a:srgbClr val="9AA4B0">
                <a:alpha val="22000"/>
              </a:srgbClr>
            </a:outerShdw>
          </a:effectLst>
        </p:spPr>
      </p:sp>
      <p:sp>
        <p:nvSpPr>
          <p:cNvPr id="10" name="Text 8"/>
          <p:cNvSpPr txBox="1"/>
          <p:nvPr/>
        </p:nvSpPr>
        <p:spPr>
          <a:xfrm>
            <a:off x="2194560" y="2962656"/>
            <a:ext cx="7772400" cy="329184"/>
          </a:xfrm>
          <a:prstGeom prst="rect">
            <a:avLst/>
          </a:prstGeom>
          <a:noFill/>
          <a:ln/>
        </p:spPr>
        <p:txBody>
          <a:bodyPr wrap="square" lIns="0" tIns="0" rIns="0" bIns="0" rtlCol="0" anchor="ctr"/>
          <a:lstStyle/>
          <a:p>
            <a:pPr algn="ctr" indent="0" marL="0">
              <a:buNone/>
            </a:pPr>
            <a:r>
              <a:rPr lang="en-US" sz="1600" b="1" dirty="0">
                <a:solidFill>
                  <a:srgbClr val="F7F8F5"/>
                </a:solidFill>
                <a:latin typeface="Calibri" pitchFamily="34" charset="0"/>
                <a:ea typeface="Calibri" pitchFamily="34" charset="-122"/>
                <a:cs typeface="Calibri" pitchFamily="34" charset="-120"/>
              </a:rPr>
              <a:t>shared directory</a:t>
            </a:r>
            <a:endParaRPr lang="en-US" sz="1600" dirty="0"/>
          </a:p>
        </p:txBody>
      </p:sp>
      <p:sp>
        <p:nvSpPr>
          <p:cNvPr id="11" name="Text 9"/>
          <p:cNvSpPr txBox="1"/>
          <p:nvPr/>
        </p:nvSpPr>
        <p:spPr>
          <a:xfrm>
            <a:off x="2322576" y="3291840"/>
            <a:ext cx="7516368" cy="256032"/>
          </a:xfrm>
          <a:prstGeom prst="rect">
            <a:avLst/>
          </a:prstGeom>
          <a:noFill/>
          <a:ln/>
        </p:spPr>
        <p:txBody>
          <a:bodyPr wrap="square" lIns="0" tIns="0" rIns="0" bIns="0" rtlCol="0" anchor="ctr"/>
          <a:lstStyle/>
          <a:p>
            <a:pPr algn="ctr" indent="0" marL="0">
              <a:buNone/>
            </a:pPr>
            <a:r>
              <a:rPr lang="en-US" sz="1200" dirty="0">
                <a:solidFill>
                  <a:srgbClr val="E08A4A"/>
                </a:solidFill>
                <a:latin typeface="Calibri" pitchFamily="34" charset="0"/>
                <a:ea typeface="Calibri" pitchFamily="34" charset="-122"/>
                <a:cs typeface="Calibri" pitchFamily="34" charset="-120"/>
              </a:rPr>
              <a:t>= the network, attacker-controlled</a:t>
            </a:r>
            <a:endParaRPr lang="en-US" sz="1200" dirty="0"/>
          </a:p>
        </p:txBody>
      </p:sp>
      <p:sp>
        <p:nvSpPr>
          <p:cNvPr id="12" name="Shape 10"/>
          <p:cNvSpPr/>
          <p:nvPr/>
        </p:nvSpPr>
        <p:spPr>
          <a:xfrm>
            <a:off x="1188720" y="4434840"/>
            <a:ext cx="3931920" cy="1097280"/>
          </a:xfrm>
          <a:prstGeom prst="roundRect">
            <a:avLst>
              <a:gd name="adj" fmla="val 5000"/>
            </a:avLst>
          </a:prstGeom>
          <a:solidFill>
            <a:srgbClr val="FFFFFF"/>
          </a:solidFill>
          <a:ln w="12700">
            <a:solidFill>
              <a:srgbClr val="9AA4B0"/>
            </a:solidFill>
            <a:prstDash val="solid"/>
          </a:ln>
          <a:effectLst>
            <a:outerShdw sx="100000" sy="100000" kx="0" ky="0" algn="bl" rotWithShape="0" blurRad="76200" dist="12700" dir="5400000">
              <a:srgbClr val="9AA4B0">
                <a:alpha val="22000"/>
              </a:srgbClr>
            </a:outerShdw>
          </a:effectLst>
        </p:spPr>
      </p:sp>
      <p:sp>
        <p:nvSpPr>
          <p:cNvPr id="13" name="Text 11"/>
          <p:cNvSpPr txBox="1"/>
          <p:nvPr/>
        </p:nvSpPr>
        <p:spPr>
          <a:xfrm>
            <a:off x="1188720" y="4562856"/>
            <a:ext cx="3931920" cy="329184"/>
          </a:xfrm>
          <a:prstGeom prst="rect">
            <a:avLst/>
          </a:prstGeom>
          <a:noFill/>
          <a:ln/>
        </p:spPr>
        <p:txBody>
          <a:bodyPr wrap="square" lIns="0" tIns="0" rIns="0" bIns="0" rtlCol="0" anchor="ctr"/>
          <a:lstStyle/>
          <a:p>
            <a:pPr algn="ctr" indent="0" marL="0">
              <a:buNone/>
            </a:pPr>
            <a:r>
              <a:rPr lang="en-US" sz="1600" b="1" dirty="0">
                <a:solidFill>
                  <a:srgbClr val="111820"/>
                </a:solidFill>
                <a:latin typeface="Calibri" pitchFamily="34" charset="0"/>
                <a:ea typeface="Calibri" pitchFamily="34" charset="-122"/>
                <a:cs typeface="Calibri" pitchFamily="34" charset="-120"/>
              </a:rPr>
              <a:t>server</a:t>
            </a:r>
            <a:endParaRPr lang="en-US" sz="1600" dirty="0"/>
          </a:p>
        </p:txBody>
      </p:sp>
      <p:sp>
        <p:nvSpPr>
          <p:cNvPr id="14" name="Text 12"/>
          <p:cNvSpPr txBox="1"/>
          <p:nvPr/>
        </p:nvSpPr>
        <p:spPr>
          <a:xfrm>
            <a:off x="1316736" y="4892040"/>
            <a:ext cx="3675888" cy="530352"/>
          </a:xfrm>
          <a:prstGeom prst="rect">
            <a:avLst/>
          </a:prstGeom>
          <a:noFill/>
          <a:ln/>
        </p:spPr>
        <p:txBody>
          <a:bodyPr wrap="square" lIns="0" tIns="0" rIns="0" bIns="0" rtlCol="0" anchor="ctr"/>
          <a:lstStyle/>
          <a:p>
            <a:pPr algn="ctr" indent="0" marL="0">
              <a:buNone/>
            </a:pPr>
            <a:r>
              <a:rPr lang="en-US" sz="1200" dirty="0">
                <a:solidFill>
                  <a:srgbClr val="3C4655"/>
                </a:solidFill>
                <a:latin typeface="Calibri" pitchFamily="34" charset="0"/>
                <a:ea typeface="Calibri" pitchFamily="34" charset="-122"/>
                <a:cs typeface="Calibri" pitchFamily="34" charset="-120"/>
              </a:rPr>
              <a:t>honest-but-curious · a store and a relay</a:t>
            </a:r>
            <a:endParaRPr lang="en-US" sz="1200" dirty="0"/>
          </a:p>
        </p:txBody>
      </p:sp>
      <p:sp>
        <p:nvSpPr>
          <p:cNvPr id="15" name="Shape 13"/>
          <p:cNvSpPr/>
          <p:nvPr/>
        </p:nvSpPr>
        <p:spPr>
          <a:xfrm>
            <a:off x="7040880" y="4434840"/>
            <a:ext cx="3931920" cy="1097280"/>
          </a:xfrm>
          <a:prstGeom prst="roundRect">
            <a:avLst>
              <a:gd name="adj" fmla="val 5000"/>
            </a:avLst>
          </a:prstGeom>
          <a:solidFill>
            <a:srgbClr val="FFFFFF"/>
          </a:solidFill>
          <a:ln w="12700">
            <a:solidFill>
              <a:srgbClr val="9AA4B0"/>
            </a:solidFill>
            <a:prstDash val="solid"/>
          </a:ln>
          <a:effectLst>
            <a:outerShdw sx="100000" sy="100000" kx="0" ky="0" algn="bl" rotWithShape="0" blurRad="76200" dist="12700" dir="5400000">
              <a:srgbClr val="9AA4B0">
                <a:alpha val="22000"/>
              </a:srgbClr>
            </a:outerShdw>
          </a:effectLst>
        </p:spPr>
      </p:sp>
      <p:sp>
        <p:nvSpPr>
          <p:cNvPr id="16" name="Text 14"/>
          <p:cNvSpPr txBox="1"/>
          <p:nvPr/>
        </p:nvSpPr>
        <p:spPr>
          <a:xfrm>
            <a:off x="7040880" y="4562856"/>
            <a:ext cx="3931920" cy="329184"/>
          </a:xfrm>
          <a:prstGeom prst="rect">
            <a:avLst/>
          </a:prstGeom>
          <a:noFill/>
          <a:ln/>
        </p:spPr>
        <p:txBody>
          <a:bodyPr wrap="square" lIns="0" tIns="0" rIns="0" bIns="0" rtlCol="0" anchor="ctr"/>
          <a:lstStyle/>
          <a:p>
            <a:pPr algn="ctr" indent="0" marL="0">
              <a:buNone/>
            </a:pPr>
            <a:r>
              <a:rPr lang="en-US" sz="1600" b="1" dirty="0">
                <a:solidFill>
                  <a:srgbClr val="111820"/>
                </a:solidFill>
                <a:latin typeface="Calibri" pitchFamily="34" charset="0"/>
                <a:ea typeface="Calibri" pitchFamily="34" charset="-122"/>
                <a:cs typeface="Calibri" pitchFamily="34" charset="-120"/>
              </a:rPr>
              <a:t>certificate authority</a:t>
            </a:r>
            <a:endParaRPr lang="en-US" sz="1600" dirty="0"/>
          </a:p>
        </p:txBody>
      </p:sp>
      <p:sp>
        <p:nvSpPr>
          <p:cNvPr id="17" name="Text 15"/>
          <p:cNvSpPr txBox="1"/>
          <p:nvPr/>
        </p:nvSpPr>
        <p:spPr>
          <a:xfrm>
            <a:off x="7168896" y="4892040"/>
            <a:ext cx="3675888" cy="530352"/>
          </a:xfrm>
          <a:prstGeom prst="rect">
            <a:avLst/>
          </a:prstGeom>
          <a:noFill/>
          <a:ln/>
        </p:spPr>
        <p:txBody>
          <a:bodyPr wrap="square" lIns="0" tIns="0" rIns="0" bIns="0" rtlCol="0" anchor="ctr"/>
          <a:lstStyle/>
          <a:p>
            <a:pPr algn="ctr" indent="0" marL="0">
              <a:buNone/>
            </a:pPr>
            <a:r>
              <a:rPr lang="en-US" sz="1200" dirty="0">
                <a:solidFill>
                  <a:srgbClr val="3C4655"/>
                </a:solidFill>
                <a:latin typeface="Calibri" pitchFamily="34" charset="0"/>
                <a:ea typeface="Calibri" pitchFamily="34" charset="-122"/>
                <a:cs typeface="Calibri" pitchFamily="34" charset="-120"/>
              </a:rPr>
              <a:t>separate program · public key given out of band</a:t>
            </a:r>
            <a:endParaRPr lang="en-US" sz="1200" dirty="0"/>
          </a:p>
        </p:txBody>
      </p:sp>
      <p:sp>
        <p:nvSpPr>
          <p:cNvPr id="18" name="Shape 16"/>
          <p:cNvSpPr/>
          <p:nvPr/>
        </p:nvSpPr>
        <p:spPr>
          <a:xfrm>
            <a:off x="2377440" y="2240280"/>
            <a:ext cx="0" cy="594360"/>
          </a:xfrm>
          <a:prstGeom prst="line">
            <a:avLst/>
          </a:prstGeom>
          <a:noFill/>
          <a:ln w="28575">
            <a:solidFill>
              <a:srgbClr val="2F6FD0"/>
            </a:solidFill>
            <a:prstDash val="solid"/>
            <a:headEnd type="triangle"/>
            <a:tailEnd type="triangle"/>
          </a:ln>
        </p:spPr>
      </p:sp>
      <p:sp>
        <p:nvSpPr>
          <p:cNvPr id="19" name="Shape 17"/>
          <p:cNvSpPr/>
          <p:nvPr/>
        </p:nvSpPr>
        <p:spPr>
          <a:xfrm>
            <a:off x="9784080" y="2240280"/>
            <a:ext cx="0" cy="594360"/>
          </a:xfrm>
          <a:prstGeom prst="line">
            <a:avLst/>
          </a:prstGeom>
          <a:noFill/>
          <a:ln w="28575">
            <a:solidFill>
              <a:srgbClr val="2F6FD0"/>
            </a:solidFill>
            <a:prstDash val="solid"/>
            <a:headEnd type="triangle"/>
            <a:tailEnd type="triangle"/>
          </a:ln>
        </p:spPr>
      </p:sp>
      <p:sp>
        <p:nvSpPr>
          <p:cNvPr id="20" name="Shape 18"/>
          <p:cNvSpPr/>
          <p:nvPr/>
        </p:nvSpPr>
        <p:spPr>
          <a:xfrm>
            <a:off x="3154680" y="3657600"/>
            <a:ext cx="0" cy="777240"/>
          </a:xfrm>
          <a:prstGeom prst="line">
            <a:avLst/>
          </a:prstGeom>
          <a:noFill/>
          <a:ln w="28575">
            <a:solidFill>
              <a:srgbClr val="111820"/>
            </a:solidFill>
            <a:prstDash val="solid"/>
            <a:headEnd type="triangle"/>
            <a:tailEnd type="triangle"/>
          </a:ln>
        </p:spPr>
      </p:sp>
      <p:sp>
        <p:nvSpPr>
          <p:cNvPr id="21" name="Shape 19"/>
          <p:cNvSpPr/>
          <p:nvPr/>
        </p:nvSpPr>
        <p:spPr>
          <a:xfrm flipV="1">
            <a:off x="10607040" y="2240280"/>
            <a:ext cx="0" cy="2194560"/>
          </a:xfrm>
          <a:prstGeom prst="line">
            <a:avLst/>
          </a:prstGeom>
          <a:noFill/>
          <a:ln w="28575">
            <a:solidFill>
              <a:srgbClr val="9AA4B0"/>
            </a:solidFill>
            <a:prstDash val="dash"/>
            <a:headEnd type="none"/>
            <a:tailEnd type="triangle"/>
          </a:ln>
        </p:spPr>
      </p:sp>
      <p:sp>
        <p:nvSpPr>
          <p:cNvPr id="22" name="Text 20"/>
          <p:cNvSpPr txBox="1"/>
          <p:nvPr/>
        </p:nvSpPr>
        <p:spPr>
          <a:xfrm>
            <a:off x="548640" y="5806440"/>
            <a:ext cx="11064240" cy="384048"/>
          </a:xfrm>
          <a:prstGeom prst="rect">
            <a:avLst/>
          </a:prstGeom>
          <a:noFill/>
          <a:ln/>
        </p:spPr>
        <p:txBody>
          <a:bodyPr wrap="square" lIns="0" tIns="0" rIns="0" bIns="0" rtlCol="0" anchor="t"/>
          <a:lstStyle/>
          <a:p>
            <a:pPr indent="0" marL="0">
              <a:buNone/>
            </a:pPr>
            <a:r>
              <a:rPr lang="en-US" sz="1150" dirty="0">
                <a:solidFill>
                  <a:srgbClr val="6A7179"/>
                </a:solidFill>
                <a:latin typeface="Calibri" pitchFamily="34" charset="0"/>
                <a:ea typeface="Calibri" pitchFamily="34" charset="-122"/>
                <a:cs typeface="Calibri" pitchFamily="34" charset="-120"/>
              </a:rPr>
              <a:t>Every cryptographic decision is made in client.py. server.py imports no encryption function at all — only BLAKE2b and a constant-time comparison.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FEA"/>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000" b="1" dirty="0">
                <a:solidFill>
                  <a:srgbClr val="111820"/>
                </a:solidFill>
                <a:latin typeface="Cambria" pitchFamily="34" charset="0"/>
                <a:ea typeface="Cambria" pitchFamily="34" charset="-122"/>
                <a:cs typeface="Cambria" pitchFamily="34" charset="-120"/>
              </a:rPr>
              <a:t>What the server is structurally prevented from doing</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749040"/>
                <a:gridCol w="7315200"/>
              </a:tblGrid>
              <a:tr h="384048">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It cannot…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because…</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read a document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document keys travel only wrapped under an ECDH key between two users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open a keystore or keyring</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both are encrypted under vault_key, which is never transmitted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recover a password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it holds BLAKE2b(auth_token), and each guess costs a full Argon2id run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forge a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CA's signing key lives in a separate program</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alter metadata undetected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metadata is the AAD of the document's GCM encryption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redirect or fabricate a share</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manifest inside is signed by the sender and names both parties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tell whether a share is signed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signature sits inside the encrypted payload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029200"/>
            <a:ext cx="11064240" cy="365760"/>
          </a:xfrm>
          <a:prstGeom prst="rect">
            <a:avLst/>
          </a:prstGeom>
          <a:noFill/>
          <a:ln/>
        </p:spPr>
        <p:txBody>
          <a:bodyPr wrap="square" lIns="0" tIns="0" rIns="0" bIns="0" rtlCol="0" anchor="t"/>
          <a:lstStyle/>
          <a:p>
            <a:pPr algn="l" indent="0" marL="0">
              <a:lnSpc>
                <a:spcPct val="118000"/>
              </a:lnSpc>
              <a:buNone/>
            </a:pPr>
            <a:r>
              <a:rPr lang="en-US" sz="1450" b="1" dirty="0">
                <a:solidFill>
                  <a:srgbClr val="3C4655"/>
                </a:solidFill>
                <a:latin typeface="Calibri" pitchFamily="34" charset="0"/>
                <a:ea typeface="Calibri" pitchFamily="34" charset="-122"/>
                <a:cs typeface="Calibri" pitchFamily="34" charset="-120"/>
              </a:rPr>
              <a:t>Each line follows from where the keys are, not from the server choosing to behave.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000" b="1" dirty="0">
                <a:solidFill>
                  <a:srgbClr val="111820"/>
                </a:solidFill>
                <a:latin typeface="Cambria" pitchFamily="34" charset="0"/>
                <a:ea typeface="Cambria" pitchFamily="34" charset="-122"/>
                <a:cs typeface="Cambria" pitchFamily="34" charset="-120"/>
              </a:rPr>
              <a:t>Key hierarchy — one password, two unrelated outputs</a:t>
            </a:r>
            <a:endParaRPr lang="en-US" sz="3000" dirty="0"/>
          </a:p>
        </p:txBody>
      </p:sp>
      <p:sp>
        <p:nvSpPr>
          <p:cNvPr id="3" name="Shape 1"/>
          <p:cNvSpPr/>
          <p:nvPr/>
        </p:nvSpPr>
        <p:spPr>
          <a:xfrm>
            <a:off x="3794760" y="1325880"/>
            <a:ext cx="4572000" cy="475488"/>
          </a:xfrm>
          <a:prstGeom prst="roundRect">
            <a:avLst>
              <a:gd name="adj" fmla="val 11538"/>
            </a:avLst>
          </a:prstGeom>
          <a:solidFill>
            <a:srgbClr val="FFFFFF"/>
          </a:solidFill>
          <a:ln/>
        </p:spPr>
      </p:sp>
      <p:sp>
        <p:nvSpPr>
          <p:cNvPr id="4" name="Text 2"/>
          <p:cNvSpPr txBox="1"/>
          <p:nvPr/>
        </p:nvSpPr>
        <p:spPr>
          <a:xfrm>
            <a:off x="3794760" y="1325880"/>
            <a:ext cx="4572000" cy="475488"/>
          </a:xfrm>
          <a:prstGeom prst="rect">
            <a:avLst/>
          </a:prstGeom>
          <a:noFill/>
          <a:ln/>
        </p:spPr>
        <p:txBody>
          <a:bodyPr wrap="square" lIns="0" tIns="0" rIns="0" bIns="0" rtlCol="0" anchor="ctr"/>
          <a:lstStyle/>
          <a:p>
            <a:pPr algn="ctr" indent="0" marL="0">
              <a:buNone/>
            </a:pPr>
            <a:r>
              <a:rPr lang="en-US" sz="1300" b="1" dirty="0">
                <a:solidFill>
                  <a:srgbClr val="111820"/>
                </a:solidFill>
                <a:latin typeface="Courier New" pitchFamily="34" charset="0"/>
                <a:ea typeface="Courier New" pitchFamily="34" charset="-122"/>
                <a:cs typeface="Courier New" pitchFamily="34" charset="-120"/>
              </a:rPr>
              <a:t>password + salt</a:t>
            </a:r>
            <a:endParaRPr lang="en-US" sz="1300" dirty="0"/>
          </a:p>
        </p:txBody>
      </p:sp>
      <p:sp>
        <p:nvSpPr>
          <p:cNvPr id="5" name="Shape 3"/>
          <p:cNvSpPr/>
          <p:nvPr/>
        </p:nvSpPr>
        <p:spPr>
          <a:xfrm>
            <a:off x="6080760" y="1847088"/>
            <a:ext cx="0" cy="274320"/>
          </a:xfrm>
          <a:prstGeom prst="line">
            <a:avLst/>
          </a:prstGeom>
          <a:noFill/>
          <a:ln w="28575">
            <a:solidFill>
              <a:srgbClr val="9AA4B0"/>
            </a:solidFill>
            <a:prstDash val="solid"/>
            <a:tailEnd type="triangle"/>
          </a:ln>
        </p:spPr>
      </p:sp>
      <p:sp>
        <p:nvSpPr>
          <p:cNvPr id="6" name="Shape 4"/>
          <p:cNvSpPr/>
          <p:nvPr/>
        </p:nvSpPr>
        <p:spPr>
          <a:xfrm>
            <a:off x="3794760" y="2167128"/>
            <a:ext cx="4572000" cy="475488"/>
          </a:xfrm>
          <a:prstGeom prst="roundRect">
            <a:avLst>
              <a:gd name="adj" fmla="val 11538"/>
            </a:avLst>
          </a:prstGeom>
          <a:solidFill>
            <a:srgbClr val="C96A2B"/>
          </a:solidFill>
          <a:ln/>
        </p:spPr>
      </p:sp>
      <p:sp>
        <p:nvSpPr>
          <p:cNvPr id="7" name="Text 5"/>
          <p:cNvSpPr txBox="1"/>
          <p:nvPr/>
        </p:nvSpPr>
        <p:spPr>
          <a:xfrm>
            <a:off x="3794760" y="2167128"/>
            <a:ext cx="45720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Argon2id — the only expensive step</a:t>
            </a:r>
            <a:endParaRPr lang="en-US" sz="1300" dirty="0"/>
          </a:p>
        </p:txBody>
      </p:sp>
      <p:sp>
        <p:nvSpPr>
          <p:cNvPr id="8" name="Shape 6"/>
          <p:cNvSpPr/>
          <p:nvPr/>
        </p:nvSpPr>
        <p:spPr>
          <a:xfrm>
            <a:off x="6080760" y="2688336"/>
            <a:ext cx="0" cy="274320"/>
          </a:xfrm>
          <a:prstGeom prst="line">
            <a:avLst/>
          </a:prstGeom>
          <a:noFill/>
          <a:ln w="28575">
            <a:solidFill>
              <a:srgbClr val="9AA4B0"/>
            </a:solidFill>
            <a:prstDash val="solid"/>
            <a:tailEnd type="triangle"/>
          </a:ln>
        </p:spPr>
      </p:sp>
      <p:sp>
        <p:nvSpPr>
          <p:cNvPr id="9" name="Shape 7"/>
          <p:cNvSpPr/>
          <p:nvPr/>
        </p:nvSpPr>
        <p:spPr>
          <a:xfrm>
            <a:off x="3794760" y="3008376"/>
            <a:ext cx="4572000" cy="475488"/>
          </a:xfrm>
          <a:prstGeom prst="roundRect">
            <a:avLst>
              <a:gd name="adj" fmla="val 11538"/>
            </a:avLst>
          </a:prstGeom>
          <a:solidFill>
            <a:srgbClr val="111820"/>
          </a:solidFill>
          <a:ln/>
        </p:spPr>
      </p:sp>
      <p:sp>
        <p:nvSpPr>
          <p:cNvPr id="10" name="Text 8"/>
          <p:cNvSpPr txBox="1"/>
          <p:nvPr/>
        </p:nvSpPr>
        <p:spPr>
          <a:xfrm>
            <a:off x="3794760" y="3008376"/>
            <a:ext cx="4572000" cy="475488"/>
          </a:xfrm>
          <a:prstGeom prst="rect">
            <a:avLst/>
          </a:prstGeom>
          <a:noFill/>
          <a:ln/>
        </p:spPr>
        <p:txBody>
          <a:bodyPr wrap="square" lIns="0" tIns="0" rIns="0" bIns="0" rtlCol="0" anchor="ctr"/>
          <a:lstStyle/>
          <a:p>
            <a:pPr algn="ctr" indent="0" marL="0">
              <a:buNone/>
            </a:pPr>
            <a:r>
              <a:rPr lang="en-US" sz="1300" b="1" dirty="0">
                <a:solidFill>
                  <a:srgbClr val="F7F8F5"/>
                </a:solidFill>
                <a:latin typeface="Courier New" pitchFamily="34" charset="0"/>
                <a:ea typeface="Courier New" pitchFamily="34" charset="-122"/>
                <a:cs typeface="Courier New" pitchFamily="34" charset="-120"/>
              </a:rPr>
              <a:t>master (32 bytes)</a:t>
            </a:r>
            <a:endParaRPr lang="en-US" sz="1300" dirty="0"/>
          </a:p>
        </p:txBody>
      </p:sp>
      <p:sp>
        <p:nvSpPr>
          <p:cNvPr id="11" name="Shape 9"/>
          <p:cNvSpPr/>
          <p:nvPr/>
        </p:nvSpPr>
        <p:spPr>
          <a:xfrm>
            <a:off x="548640" y="3794760"/>
            <a:ext cx="5349240"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2" name="Text 10"/>
          <p:cNvSpPr txBox="1"/>
          <p:nvPr/>
        </p:nvSpPr>
        <p:spPr>
          <a:xfrm>
            <a:off x="841248" y="3986784"/>
            <a:ext cx="4764024" cy="274320"/>
          </a:xfrm>
          <a:prstGeom prst="rect">
            <a:avLst/>
          </a:prstGeom>
          <a:noFill/>
          <a:ln/>
        </p:spPr>
        <p:txBody>
          <a:bodyPr wrap="square" lIns="0" tIns="0" rIns="0" bIns="0" rtlCol="0" anchor="ctr"/>
          <a:lstStyle/>
          <a:p>
            <a:pPr indent="0" marL="0">
              <a:buNone/>
            </a:pPr>
            <a:r>
              <a:rPr lang="en-US" sz="1150" dirty="0">
                <a:solidFill>
                  <a:srgbClr val="2F6FD0"/>
                </a:solidFill>
                <a:latin typeface="Courier New" pitchFamily="34" charset="0"/>
                <a:ea typeface="Courier New" pitchFamily="34" charset="-122"/>
                <a:cs typeface="Courier New" pitchFamily="34" charset="-120"/>
              </a:rPr>
              <a:t>BLAKE2b · person="SV-AUTH-v1"</a:t>
            </a:r>
            <a:endParaRPr lang="en-US" sz="1150" dirty="0"/>
          </a:p>
        </p:txBody>
      </p:sp>
      <p:sp>
        <p:nvSpPr>
          <p:cNvPr id="13" name="Text 11"/>
          <p:cNvSpPr txBox="1"/>
          <p:nvPr/>
        </p:nvSpPr>
        <p:spPr>
          <a:xfrm>
            <a:off x="841248" y="4297680"/>
            <a:ext cx="4764024" cy="292608"/>
          </a:xfrm>
          <a:prstGeom prst="rect">
            <a:avLst/>
          </a:prstGeom>
          <a:noFill/>
          <a:ln/>
        </p:spPr>
        <p:txBody>
          <a:bodyPr wrap="square" lIns="0" tIns="0" rIns="0" bIns="0" rtlCol="0" anchor="ctr"/>
          <a:lstStyle/>
          <a:p>
            <a:pPr indent="0" marL="0">
              <a:buNone/>
            </a:pPr>
            <a:r>
              <a:rPr lang="en-US" sz="1700" b="1" dirty="0">
                <a:solidFill>
                  <a:srgbClr val="111820"/>
                </a:solidFill>
                <a:latin typeface="Calibri" pitchFamily="34" charset="0"/>
                <a:ea typeface="Calibri" pitchFamily="34" charset="-122"/>
                <a:cs typeface="Calibri" pitchFamily="34" charset="-120"/>
              </a:rPr>
              <a:t>auth_token</a:t>
            </a:r>
            <a:endParaRPr lang="en-US" sz="1700" dirty="0"/>
          </a:p>
        </p:txBody>
      </p:sp>
      <p:sp>
        <p:nvSpPr>
          <p:cNvPr id="14" name="Text 12"/>
          <p:cNvSpPr txBox="1"/>
          <p:nvPr/>
        </p:nvSpPr>
        <p:spPr>
          <a:xfrm>
            <a:off x="841248" y="4681728"/>
            <a:ext cx="4764024"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Sent to the server, which stores only BLAKE2b of it under a second personalisation string.</a:t>
            </a:r>
            <a:endParaRPr lang="en-US" sz="1250" dirty="0"/>
          </a:p>
        </p:txBody>
      </p:sp>
      <p:sp>
        <p:nvSpPr>
          <p:cNvPr id="15" name="Shape 13"/>
          <p:cNvSpPr/>
          <p:nvPr/>
        </p:nvSpPr>
        <p:spPr>
          <a:xfrm>
            <a:off x="6263640" y="3794760"/>
            <a:ext cx="5349240"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6" name="Text 14"/>
          <p:cNvSpPr txBox="1"/>
          <p:nvPr/>
        </p:nvSpPr>
        <p:spPr>
          <a:xfrm>
            <a:off x="6556248" y="3986784"/>
            <a:ext cx="4764024" cy="274320"/>
          </a:xfrm>
          <a:prstGeom prst="rect">
            <a:avLst/>
          </a:prstGeom>
          <a:noFill/>
          <a:ln/>
        </p:spPr>
        <p:txBody>
          <a:bodyPr wrap="square" lIns="0" tIns="0" rIns="0" bIns="0" rtlCol="0" anchor="ctr"/>
          <a:lstStyle/>
          <a:p>
            <a:pPr indent="0" marL="0">
              <a:buNone/>
            </a:pPr>
            <a:r>
              <a:rPr lang="en-US" sz="1150" dirty="0">
                <a:solidFill>
                  <a:srgbClr val="2F6FD0"/>
                </a:solidFill>
                <a:latin typeface="Courier New" pitchFamily="34" charset="0"/>
                <a:ea typeface="Courier New" pitchFamily="34" charset="-122"/>
                <a:cs typeface="Courier New" pitchFamily="34" charset="-120"/>
              </a:rPr>
              <a:t>BLAKE2b · person="SV-VAULT-v1"</a:t>
            </a:r>
            <a:endParaRPr lang="en-US" sz="1150" dirty="0"/>
          </a:p>
        </p:txBody>
      </p:sp>
      <p:sp>
        <p:nvSpPr>
          <p:cNvPr id="17" name="Text 15"/>
          <p:cNvSpPr txBox="1"/>
          <p:nvPr/>
        </p:nvSpPr>
        <p:spPr>
          <a:xfrm>
            <a:off x="6556248" y="4297680"/>
            <a:ext cx="4764024" cy="292608"/>
          </a:xfrm>
          <a:prstGeom prst="rect">
            <a:avLst/>
          </a:prstGeom>
          <a:noFill/>
          <a:ln/>
        </p:spPr>
        <p:txBody>
          <a:bodyPr wrap="square" lIns="0" tIns="0" rIns="0" bIns="0" rtlCol="0" anchor="ctr"/>
          <a:lstStyle/>
          <a:p>
            <a:pPr indent="0" marL="0">
              <a:buNone/>
            </a:pPr>
            <a:r>
              <a:rPr lang="en-US" sz="1700" b="1" dirty="0">
                <a:solidFill>
                  <a:srgbClr val="111820"/>
                </a:solidFill>
                <a:latin typeface="Calibri" pitchFamily="34" charset="0"/>
                <a:ea typeface="Calibri" pitchFamily="34" charset="-122"/>
                <a:cs typeface="Calibri" pitchFamily="34" charset="-120"/>
              </a:rPr>
              <a:t>vault_key</a:t>
            </a:r>
            <a:endParaRPr lang="en-US" sz="1700" dirty="0"/>
          </a:p>
        </p:txBody>
      </p:sp>
      <p:sp>
        <p:nvSpPr>
          <p:cNvPr id="18" name="Text 16"/>
          <p:cNvSpPr txBox="1"/>
          <p:nvPr/>
        </p:nvSpPr>
        <p:spPr>
          <a:xfrm>
            <a:off x="6556248" y="4681728"/>
            <a:ext cx="4764024"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Never transmitted. Wraps the keystore (ECDSA + ECDH private keys) and the keyring (document keys, replay log).</a:t>
            </a:r>
            <a:endParaRPr lang="en-US" sz="1250" dirty="0"/>
          </a:p>
        </p:txBody>
      </p:sp>
      <p:sp>
        <p:nvSpPr>
          <p:cNvPr id="19" name="Text 17"/>
          <p:cNvSpPr txBox="1"/>
          <p:nvPr/>
        </p:nvSpPr>
        <p:spPr>
          <a:xfrm>
            <a:off x="548640" y="5806440"/>
            <a:ext cx="11064240" cy="384048"/>
          </a:xfrm>
          <a:prstGeom prst="rect">
            <a:avLst/>
          </a:prstGeom>
          <a:noFill/>
          <a:ln/>
        </p:spPr>
        <p:txBody>
          <a:bodyPr wrap="square" lIns="0" tIns="0" rIns="0" bIns="0" rtlCol="0" anchor="t"/>
          <a:lstStyle/>
          <a:p>
            <a:pPr indent="0" marL="0">
              <a:buNone/>
            </a:pPr>
            <a:r>
              <a:rPr lang="en-US" sz="1150" dirty="0">
                <a:solidFill>
                  <a:srgbClr val="6A7179"/>
                </a:solidFill>
                <a:latin typeface="Calibri" pitchFamily="34" charset="0"/>
                <a:ea typeface="Calibri" pitchFamily="34" charset="-122"/>
                <a:cs typeface="Calibri" pitchFamily="34" charset="-120"/>
              </a:rPr>
              <a:t>Identity key pairs are generated once at registration and never derived from the password — so a password change re-wraps the keystore but leaves the certificate, the public key and the fingerprint valid.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FEA"/>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000" b="1" dirty="0">
                <a:solidFill>
                  <a:srgbClr val="111820"/>
                </a:solidFill>
                <a:latin typeface="Cambria" pitchFamily="34" charset="0"/>
                <a:ea typeface="Cambria" pitchFamily="34" charset="-122"/>
                <a:cs typeface="Cambria" pitchFamily="34" charset="-120"/>
              </a:rPr>
              <a:t>Argon2id — and an honest problem with the work factor</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1691640"/>
                <a:gridCol w="868680"/>
                <a:gridCol w="868680"/>
                <a:gridCol w="1691640"/>
                <a:gridCol w="1965960"/>
                <a:gridCol w="1691640"/>
              </a:tblGrid>
              <a:tr h="420624">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Profile</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m (KiB)</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ours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reference C</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r>
              <a:tr h="420624">
                <a:tc>
                  <a:txBody>
                    <a:bodyPr/>
                    <a:lstStyle/>
                    <a:p>
                      <a:pPr algn="l" indent="0" marL="0">
                        <a:buNone/>
                      </a:pPr>
                      <a:r>
                        <a:rPr lang="en-US" sz="1200" b="1" dirty="0">
                          <a:solidFill>
                            <a:srgbClr val="111820"/>
                          </a:solidFill>
                          <a:latin typeface="Calibri" pitchFamily="34" charset="0"/>
                          <a:ea typeface="Calibri" pitchFamily="34" charset="-122"/>
                          <a:cs typeface="Calibri" pitchFamily="34" charset="-120"/>
                        </a:rPr>
                        <a:t>demo</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1,024</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0.33 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0.8 ms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398×</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420624">
                <a:tc>
                  <a:txBody>
                    <a:bodyPr/>
                    <a:lstStyle/>
                    <a:p>
                      <a:pPr algn="l" indent="0" marL="0">
                        <a:buNone/>
                      </a:pPr>
                      <a:r>
                        <a:rPr lang="en-US" sz="1200" b="1" dirty="0">
                          <a:solidFill>
                            <a:srgbClr val="111820"/>
                          </a:solidFill>
                          <a:latin typeface="Calibri" pitchFamily="34" charset="0"/>
                          <a:ea typeface="Calibri" pitchFamily="34" charset="-122"/>
                          <a:cs typeface="Calibri" pitchFamily="34" charset="-120"/>
                        </a:rPr>
                        <a:t>production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65,536</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100.9 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117 ms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860×</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bl>
          </a:graphicData>
        </a:graphic>
      </p:graphicFrame>
      <p:sp>
        <p:nvSpPr>
          <p:cNvPr id="4" name="Shape 1"/>
          <p:cNvSpPr/>
          <p:nvPr/>
        </p:nvSpPr>
        <p:spPr>
          <a:xfrm>
            <a:off x="548640" y="3063240"/>
            <a:ext cx="11064240" cy="1600200"/>
          </a:xfrm>
          <a:prstGeom prst="roundRect">
            <a:avLst>
              <a:gd name="adj" fmla="val 3429"/>
            </a:avLst>
          </a:prstGeom>
          <a:solidFill>
            <a:srgbClr val="111820"/>
          </a:solidFill>
          <a:ln/>
        </p:spPr>
      </p:sp>
      <p:sp>
        <p:nvSpPr>
          <p:cNvPr id="5" name="Text 2"/>
          <p:cNvSpPr txBox="1"/>
          <p:nvPr/>
        </p:nvSpPr>
        <p:spPr>
          <a:xfrm>
            <a:off x="896112" y="3273552"/>
            <a:ext cx="10369296" cy="658368"/>
          </a:xfrm>
          <a:prstGeom prst="rect">
            <a:avLst/>
          </a:prstGeom>
          <a:noFill/>
          <a:ln/>
        </p:spPr>
        <p:txBody>
          <a:bodyPr wrap="square" lIns="0" tIns="0" rIns="0" bIns="0" rtlCol="0" anchor="ctr"/>
          <a:lstStyle/>
          <a:p>
            <a:pPr indent="0" marL="0">
              <a:lnSpc>
                <a:spcPct val="118000"/>
              </a:lnSpc>
              <a:buNone/>
            </a:pPr>
            <a:r>
              <a:rPr lang="en-US" sz="1500" dirty="0">
                <a:solidFill>
                  <a:srgbClr val="F7F8F5"/>
                </a:solidFill>
                <a:latin typeface="Calibri" pitchFamily="34" charset="0"/>
                <a:ea typeface="Calibri" pitchFamily="34" charset="-122"/>
                <a:cs typeface="Calibri" pitchFamily="34" charset="-120"/>
              </a:rPr>
              <a:t>Had we tuned so that </a:t>
            </a:r>
            <a:pPr indent="0" marL="0">
              <a:lnSpc>
                <a:spcPct val="118000"/>
              </a:lnSpc>
              <a:buNone/>
            </a:pPr>
            <a:r>
              <a:rPr lang="en-US" sz="1500" i="1" dirty="0">
                <a:solidFill>
                  <a:srgbClr val="F7F8F5"/>
                </a:solidFill>
                <a:latin typeface="Calibri" pitchFamily="34" charset="0"/>
                <a:ea typeface="Calibri" pitchFamily="34" charset="-122"/>
                <a:cs typeface="Calibri" pitchFamily="34" charset="-120"/>
              </a:rPr>
              <a:t>our</a:t>
            </a:r>
            <a:pPr indent="0" marL="0">
              <a:lnSpc>
                <a:spcPct val="118000"/>
              </a:lnSpc>
              <a:buNone/>
            </a:pPr>
            <a:r>
              <a:rPr lang="en-US" sz="1500" dirty="0">
                <a:solidFill>
                  <a:srgbClr val="F7F8F5"/>
                </a:solidFill>
                <a:latin typeface="Calibri" pitchFamily="34" charset="0"/>
                <a:ea typeface="Calibri" pitchFamily="34" charset="-122"/>
                <a:cs typeface="Calibri" pitchFamily="34" charset="-120"/>
              </a:rPr>
              <a:t> verification took 0.25 s, we would have landed on m = 1 MiB — which compiled Argon2 computes in under a millisecond: about </a:t>
            </a:r>
            <a:pPr indent="0" marL="0">
              <a:lnSpc>
                <a:spcPct val="118000"/>
              </a:lnSpc>
              <a:buNone/>
            </a:pPr>
            <a:r>
              <a:rPr lang="en-US" sz="1500" b="1" dirty="0">
                <a:solidFill>
                  <a:srgbClr val="E08A4A"/>
                </a:solidFill>
                <a:latin typeface="Calibri" pitchFamily="34" charset="0"/>
                <a:ea typeface="Calibri" pitchFamily="34" charset="-122"/>
                <a:cs typeface="Calibri" pitchFamily="34" charset="-120"/>
              </a:rPr>
              <a:t>760 guesses per second per core.</a:t>
            </a:r>
            <a:endParaRPr lang="en-US" sz="1500" dirty="0"/>
          </a:p>
        </p:txBody>
      </p:sp>
      <p:sp>
        <p:nvSpPr>
          <p:cNvPr id="6" name="Text 3"/>
          <p:cNvSpPr txBox="1"/>
          <p:nvPr/>
        </p:nvSpPr>
        <p:spPr>
          <a:xfrm>
            <a:off x="896112" y="4023360"/>
            <a:ext cx="10369296" cy="457200"/>
          </a:xfrm>
          <a:prstGeom prst="rect">
            <a:avLst/>
          </a:prstGeom>
          <a:noFill/>
          <a:ln/>
        </p:spPr>
        <p:txBody>
          <a:bodyPr wrap="square" lIns="0" tIns="0" rIns="0" bIns="0" rtlCol="0" anchor="t"/>
          <a:lstStyle/>
          <a:p>
            <a:pPr algn="l" indent="0" marL="0">
              <a:lnSpc>
                <a:spcPct val="118000"/>
              </a:lnSpc>
              <a:buNone/>
            </a:pPr>
            <a:r>
              <a:rPr lang="en-US" sz="1400" dirty="0">
                <a:solidFill>
                  <a:srgbClr val="B9C4D0"/>
                </a:solidFill>
                <a:latin typeface="Calibri" pitchFamily="34" charset="0"/>
                <a:ea typeface="Calibri" pitchFamily="34" charset="-122"/>
                <a:cs typeface="Calibri" pitchFamily="34" charset="-120"/>
              </a:rPr>
              <a:t>The work factor has to be argued from the attacker's side of the table. Our slowness costs us and does nothing to them.</a:t>
            </a:r>
            <a:endParaRPr lang="en-US" sz="1400" dirty="0"/>
          </a:p>
        </p:txBody>
      </p:sp>
      <p:sp>
        <p:nvSpPr>
          <p:cNvPr id="7" name="Text 4"/>
          <p:cNvSpPr txBox="1"/>
          <p:nvPr/>
        </p:nvSpPr>
        <p:spPr>
          <a:xfrm>
            <a:off x="548640" y="4892040"/>
            <a:ext cx="11064240" cy="822960"/>
          </a:xfrm>
          <a:prstGeom prst="rect">
            <a:avLst/>
          </a:prstGeom>
          <a:noFill/>
          <a:ln/>
        </p:spPr>
        <p:txBody>
          <a:bodyPr wrap="square" lIns="0" tIns="0" rIns="0" bIns="0" rtlCol="0" anchor="t"/>
          <a:lstStyle/>
          <a:p>
            <a:pPr algn="l" indent="0" marL="0">
              <a:lnSpc>
                <a:spcPct val="118000"/>
              </a:lnSpc>
              <a:buNone/>
            </a:pPr>
            <a:r>
              <a:rPr lang="en-US" sz="1400" dirty="0">
                <a:solidFill>
                  <a:srgbClr val="3C4655"/>
                </a:solidFill>
                <a:latin typeface="Calibri" pitchFamily="34" charset="0"/>
                <a:ea typeface="Calibri" pitchFamily="34" charset="-122"/>
                <a:cs typeface="Calibri" pitchFamily="34" charset="-120"/>
              </a:rPr>
              <a:t>So there are two profiles. production (64 MiB, t=3, p=4) is the design; demo exists only to keep this presentation responsive and is below RFC 9106's floor. The profile name is written into every credential record, so the stored data says which produced 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100" b="1" dirty="0">
                <a:solidFill>
                  <a:srgbClr val="111820"/>
                </a:solidFill>
                <a:latin typeface="Cambria" pitchFamily="34" charset="0"/>
                <a:ea typeface="Cambria" pitchFamily="34" charset="-122"/>
                <a:cs typeface="Cambria" pitchFamily="34" charset="-120"/>
              </a:rPr>
              <a:t>P-256 — and what the curve actually buys</a:t>
            </a:r>
            <a:endParaRPr lang="en-US" sz="3100" dirty="0"/>
          </a:p>
        </p:txBody>
      </p:sp>
      <p:sp>
        <p:nvSpPr>
          <p:cNvPr id="3" name="Text 1"/>
          <p:cNvSpPr txBox="1"/>
          <p:nvPr/>
        </p:nvSpPr>
        <p:spPr>
          <a:xfrm>
            <a:off x="548640" y="1298448"/>
            <a:ext cx="11064240" cy="566928"/>
          </a:xfrm>
          <a:prstGeom prst="rect">
            <a:avLst/>
          </a:prstGeom>
          <a:noFill/>
          <a:ln/>
        </p:spPr>
        <p:txBody>
          <a:bodyPr wrap="square" lIns="0" tIns="0" rIns="0" bIns="0" rtlCol="0" anchor="t"/>
          <a:lstStyle/>
          <a:p>
            <a:pPr algn="l" indent="0" marL="0">
              <a:lnSpc>
                <a:spcPct val="118000"/>
              </a:lnSpc>
              <a:buNone/>
            </a:pPr>
            <a:r>
              <a:rPr lang="en-US" sz="1400" dirty="0">
                <a:solidFill>
                  <a:srgbClr val="3C4655"/>
                </a:solidFill>
                <a:latin typeface="Calibri" pitchFamily="34" charset="0"/>
                <a:ea typeface="Calibri" pitchFamily="34" charset="-122"/>
                <a:cs typeface="Calibri" pitchFamily="34" charset="-120"/>
              </a:rPr>
              <a:t>Comparing wall-clock times would be dishonest: Python's pow() is optimised C while our curve code is interpreted. So we count field multiplications and measure what one costs at each size.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840480"/>
                <a:gridCol w="3383280"/>
                <a:gridCol w="1920240"/>
                <a:gridCol w="1920240"/>
              </a:tblGrid>
              <a:tr h="420624">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At the 128-bit level</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operations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cost per op</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r" indent="0" marL="0">
                        <a:buNone/>
                      </a:pPr>
                      <a:r>
                        <a:rPr lang="en-US" sz="1200" b="1" dirty="0">
                          <a:solidFill>
                            <a:srgbClr val="F7F8F5"/>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r>
              <a:tr h="420624">
                <a:tc>
                  <a:txBody>
                    <a:bodyPr/>
                    <a:lstStyle/>
                    <a:p>
                      <a:pPr algn="l" indent="0" marL="0">
                        <a:buNone/>
                      </a:pPr>
                      <a:r>
                        <a:rPr lang="en-US" sz="1200" b="1" dirty="0">
                          <a:solidFill>
                            <a:srgbClr val="111820"/>
                          </a:solidFill>
                          <a:latin typeface="Calibri" pitchFamily="34" charset="0"/>
                          <a:ea typeface="Calibri" pitchFamily="34" charset="-122"/>
                          <a:cs typeface="Calibri" pitchFamily="34" charset="-120"/>
                        </a:rPr>
                        <a:t>P-256 scalar multiplication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~6,144 × 256-bit mults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6,144</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420624">
                <a:tc>
                  <a:txBody>
                    <a:bodyPr/>
                    <a:lstStyle/>
                    <a:p>
                      <a:pPr algn="l" indent="0" marL="0">
                        <a:buNone/>
                      </a:pPr>
                      <a:r>
                        <a:rPr lang="en-US" sz="1200" b="1" dirty="0">
                          <a:solidFill>
                            <a:srgbClr val="111820"/>
                          </a:solidFill>
                          <a:latin typeface="Calibri" pitchFamily="34" charset="0"/>
                          <a:ea typeface="Calibri" pitchFamily="34" charset="-122"/>
                          <a:cs typeface="Calibri" pitchFamily="34" charset="-120"/>
                        </a:rPr>
                        <a:t>MODP-3072 exponentiation</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~384 × 3072-bit mults</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r" indent="0" marL="0">
                        <a:buNone/>
                      </a:pPr>
                      <a:r>
                        <a:rPr lang="en-US" sz="1200" dirty="0">
                          <a:solidFill>
                            <a:srgbClr val="111820"/>
                          </a:solidFill>
                          <a:latin typeface="Calibri" pitchFamily="34" charset="0"/>
                          <a:ea typeface="Calibri" pitchFamily="34" charset="-122"/>
                          <a:cs typeface="Calibri" pitchFamily="34" charset="-120"/>
                        </a:rPr>
                        <a:t>24,192</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bl>
          </a:graphicData>
        </a:graphic>
      </p:graphicFrame>
      <p:sp>
        <p:nvSpPr>
          <p:cNvPr id="5" name="Shape 2"/>
          <p:cNvSpPr/>
          <p:nvPr/>
        </p:nvSpPr>
        <p:spPr>
          <a:xfrm>
            <a:off x="548640" y="3703320"/>
            <a:ext cx="5349240"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6" name="Text 3"/>
          <p:cNvSpPr txBox="1"/>
          <p:nvPr/>
        </p:nvSpPr>
        <p:spPr>
          <a:xfrm>
            <a:off x="868680" y="3913632"/>
            <a:ext cx="4709160" cy="457200"/>
          </a:xfrm>
          <a:prstGeom prst="rect">
            <a:avLst/>
          </a:prstGeom>
          <a:noFill/>
          <a:ln/>
        </p:spPr>
        <p:txBody>
          <a:bodyPr wrap="square" lIns="0" tIns="0" rIns="0" bIns="0" rtlCol="0" anchor="ctr"/>
          <a:lstStyle/>
          <a:p>
            <a:pPr indent="0" marL="0">
              <a:buNone/>
            </a:pPr>
            <a:r>
              <a:rPr lang="en-US" sz="2600" b="1" dirty="0">
                <a:solidFill>
                  <a:srgbClr val="2F6FD0"/>
                </a:solidFill>
                <a:latin typeface="Cambria" pitchFamily="34" charset="0"/>
                <a:ea typeface="Cambria" pitchFamily="34" charset="-122"/>
                <a:cs typeface="Cambria" pitchFamily="34" charset="-120"/>
              </a:rPr>
              <a:t>≈3.9× cheaper</a:t>
            </a:r>
            <a:endParaRPr lang="en-US" sz="2600" dirty="0"/>
          </a:p>
        </p:txBody>
      </p:sp>
      <p:sp>
        <p:nvSpPr>
          <p:cNvPr id="7" name="Text 4"/>
          <p:cNvSpPr txBox="1"/>
          <p:nvPr/>
        </p:nvSpPr>
        <p:spPr>
          <a:xfrm>
            <a:off x="868680" y="4443984"/>
            <a:ext cx="4709160" cy="91440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and public keys are 65 bytes against 384 — 5.9× smaller. Our figure is pessimistic on purpose: double-and-add-always performs a dummy addition on every zero bit.</a:t>
            </a:r>
            <a:endParaRPr lang="en-US" sz="1300" dirty="0"/>
          </a:p>
        </p:txBody>
      </p:sp>
      <p:sp>
        <p:nvSpPr>
          <p:cNvPr id="8" name="Shape 5"/>
          <p:cNvSpPr/>
          <p:nvPr/>
        </p:nvSpPr>
        <p:spPr>
          <a:xfrm>
            <a:off x="6263640" y="3703320"/>
            <a:ext cx="5349240" cy="1783080"/>
          </a:xfrm>
          <a:prstGeom prst="roundRect">
            <a:avLst>
              <a:gd name="adj" fmla="val 3077"/>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9" name="Text 6"/>
          <p:cNvSpPr txBox="1"/>
          <p:nvPr/>
        </p:nvSpPr>
        <p:spPr>
          <a:xfrm>
            <a:off x="6583680" y="3913632"/>
            <a:ext cx="4709160" cy="457200"/>
          </a:xfrm>
          <a:prstGeom prst="rect">
            <a:avLst/>
          </a:prstGeom>
          <a:noFill/>
          <a:ln/>
        </p:spPr>
        <p:txBody>
          <a:bodyPr wrap="square" lIns="0" tIns="0" rIns="0" bIns="0" rtlCol="0" anchor="ctr"/>
          <a:lstStyle/>
          <a:p>
            <a:pPr indent="0" marL="0">
              <a:buNone/>
            </a:pPr>
            <a:r>
              <a:rPr lang="en-US" sz="2600" b="1" dirty="0">
                <a:solidFill>
                  <a:srgbClr val="C96A2B"/>
                </a:solidFill>
                <a:latin typeface="Cambria" pitchFamily="34" charset="0"/>
                <a:ea typeface="Cambria" pitchFamily="34" charset="-122"/>
                <a:cs typeface="Cambria" pitchFamily="34" charset="-120"/>
              </a:rPr>
              <a:t>The price of P-256</a:t>
            </a:r>
            <a:endParaRPr lang="en-US" sz="2600" dirty="0"/>
          </a:p>
        </p:txBody>
      </p:sp>
      <p:sp>
        <p:nvSpPr>
          <p:cNvPr id="10" name="Text 7"/>
          <p:cNvSpPr txBox="1"/>
          <p:nvPr/>
        </p:nvSpPr>
        <p:spPr>
          <a:xfrm>
            <a:off x="6583680" y="4443984"/>
            <a:ext cx="4709160" cy="91440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Every public key we receive must be validated. Without it, an attacker hands us a point on a weak curve and learns our private key a few bits at a time.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000" b="1" dirty="0">
                <a:solidFill>
                  <a:srgbClr val="F7F8F5"/>
                </a:solidFill>
                <a:latin typeface="Cambria" pitchFamily="34" charset="0"/>
                <a:ea typeface="Cambria" pitchFamily="34" charset="-122"/>
                <a:cs typeface="Cambria" pitchFamily="34" charset="-120"/>
              </a:rPr>
              <a:t>The nonce is the most dangerous value in ECDSA</a:t>
            </a:r>
            <a:endParaRPr lang="en-US" sz="3000" dirty="0"/>
          </a:p>
        </p:txBody>
      </p:sp>
      <p:sp>
        <p:nvSpPr>
          <p:cNvPr id="3" name="Shape 1"/>
          <p:cNvSpPr/>
          <p:nvPr/>
        </p:nvSpPr>
        <p:spPr>
          <a:xfrm>
            <a:off x="548640" y="1325880"/>
            <a:ext cx="11064240" cy="1234440"/>
          </a:xfrm>
          <a:prstGeom prst="roundRect">
            <a:avLst>
              <a:gd name="adj" fmla="val 4444"/>
            </a:avLst>
          </a:prstGeom>
          <a:solidFill>
            <a:srgbClr val="1C2530"/>
          </a:solidFill>
          <a:ln/>
        </p:spPr>
      </p:sp>
      <p:sp>
        <p:nvSpPr>
          <p:cNvPr id="4" name="Text 2"/>
          <p:cNvSpPr txBox="1"/>
          <p:nvPr/>
        </p:nvSpPr>
        <p:spPr>
          <a:xfrm>
            <a:off x="914400" y="1481328"/>
            <a:ext cx="10332720" cy="384048"/>
          </a:xfrm>
          <a:prstGeom prst="rect">
            <a:avLst/>
          </a:prstGeom>
          <a:noFill/>
          <a:ln/>
        </p:spPr>
        <p:txBody>
          <a:bodyPr wrap="square" lIns="0" tIns="0" rIns="0" bIns="0" rtlCol="0" anchor="ctr"/>
          <a:lstStyle/>
          <a:p>
            <a:pPr indent="0" marL="0">
              <a:buNone/>
            </a:pPr>
            <a:r>
              <a:rPr lang="en-US" sz="1500" dirty="0">
                <a:solidFill>
                  <a:srgbClr val="F7F8F5"/>
                </a:solidFill>
                <a:latin typeface="Courier New" pitchFamily="34" charset="0"/>
                <a:ea typeface="Courier New" pitchFamily="34" charset="-122"/>
                <a:cs typeface="Courier New" pitchFamily="34" charset="-120"/>
              </a:rPr>
              <a:t>s₁ = k⁻¹(z₁ + rd)     and     s₂ = k⁻¹(z₂ + rd)     with the same r</a:t>
            </a:r>
            <a:endParaRPr lang="en-US" sz="1500" dirty="0"/>
          </a:p>
        </p:txBody>
      </p:sp>
      <p:sp>
        <p:nvSpPr>
          <p:cNvPr id="5" name="Text 3"/>
          <p:cNvSpPr txBox="1"/>
          <p:nvPr/>
        </p:nvSpPr>
        <p:spPr>
          <a:xfrm>
            <a:off x="914400" y="1938528"/>
            <a:ext cx="10332720" cy="384048"/>
          </a:xfrm>
          <a:prstGeom prst="rect">
            <a:avLst/>
          </a:prstGeom>
          <a:noFill/>
          <a:ln/>
        </p:spPr>
        <p:txBody>
          <a:bodyPr wrap="square" lIns="0" tIns="0" rIns="0" bIns="0" rtlCol="0" anchor="ctr"/>
          <a:lstStyle/>
          <a:p>
            <a:pPr indent="0" marL="0">
              <a:buNone/>
            </a:pPr>
            <a:r>
              <a:rPr lang="en-US" sz="1500" b="1" dirty="0">
                <a:solidFill>
                  <a:srgbClr val="E08A4A"/>
                </a:solidFill>
                <a:latin typeface="Courier New" pitchFamily="34" charset="0"/>
                <a:ea typeface="Courier New" pitchFamily="34" charset="-122"/>
                <a:cs typeface="Courier New" pitchFamily="34" charset="-120"/>
              </a:rPr>
              <a:t>⇒  k = (z₁ − z₂) / (s₁ − s₂),   then   d = (s₁k − z₁) / r</a:t>
            </a:r>
            <a:endParaRPr lang="en-US" sz="1500" dirty="0"/>
          </a:p>
        </p:txBody>
      </p:sp>
      <p:sp>
        <p:nvSpPr>
          <p:cNvPr id="6" name="Text 4"/>
          <p:cNvSpPr txBox="1"/>
          <p:nvPr/>
        </p:nvSpPr>
        <p:spPr>
          <a:xfrm>
            <a:off x="548640" y="2743200"/>
            <a:ext cx="11064240" cy="822960"/>
          </a:xfrm>
          <a:prstGeom prst="rect">
            <a:avLst/>
          </a:prstGeom>
          <a:noFill/>
          <a:ln/>
        </p:spPr>
        <p:txBody>
          <a:bodyPr wrap="square" lIns="0" tIns="0" rIns="0" bIns="0" rtlCol="0" anchor="t"/>
          <a:lstStyle/>
          <a:p>
            <a:pPr algn="l" indent="0" marL="0">
              <a:lnSpc>
                <a:spcPct val="118000"/>
              </a:lnSpc>
              <a:buNone/>
            </a:pPr>
            <a:r>
              <a:rPr lang="en-US" sz="1450" dirty="0">
                <a:solidFill>
                  <a:srgbClr val="D6DEE6"/>
                </a:solidFill>
                <a:latin typeface="Calibri" pitchFamily="34" charset="0"/>
                <a:ea typeface="Calibri" pitchFamily="34" charset="-122"/>
                <a:cs typeface="Calibri" pitchFamily="34" charset="-120"/>
              </a:rPr>
              <a:t>Repeat k across two signatures under one key and the private key falls out with school algebra. This is how the PlayStation 3 signing key went in 2010 and how Android wallet keys went in 2013. Even slight bias is fatal — lattice attacks recover the key from a few hundred signatures.</a:t>
            </a:r>
            <a:endParaRPr lang="en-US" sz="1450" dirty="0"/>
          </a:p>
        </p:txBody>
      </p:sp>
      <p:sp>
        <p:nvSpPr>
          <p:cNvPr id="7" name="Shape 5"/>
          <p:cNvSpPr/>
          <p:nvPr/>
        </p:nvSpPr>
        <p:spPr>
          <a:xfrm>
            <a:off x="548640" y="3749040"/>
            <a:ext cx="3502152" cy="1783080"/>
          </a:xfrm>
          <a:prstGeom prst="roundRect">
            <a:avLst>
              <a:gd name="adj" fmla="val 3077"/>
            </a:avLst>
          </a:prstGeom>
          <a:solidFill>
            <a:srgbClr val="1C2530"/>
          </a:solidFill>
          <a:ln/>
        </p:spPr>
      </p:sp>
      <p:sp>
        <p:nvSpPr>
          <p:cNvPr id="8" name="Text 6"/>
          <p:cNvSpPr txBox="1"/>
          <p:nvPr/>
        </p:nvSpPr>
        <p:spPr>
          <a:xfrm>
            <a:off x="822960" y="3959352"/>
            <a:ext cx="2953512" cy="292608"/>
          </a:xfrm>
          <a:prstGeom prst="rect">
            <a:avLst/>
          </a:prstGeom>
          <a:noFill/>
          <a:ln/>
        </p:spPr>
        <p:txBody>
          <a:bodyPr wrap="square" lIns="0" tIns="0" rIns="0" bIns="0" rtlCol="0" anchor="ctr"/>
          <a:lstStyle/>
          <a:p>
            <a:pPr indent="0" marL="0">
              <a:buNone/>
            </a:pPr>
            <a:r>
              <a:rPr lang="en-US" sz="1500" b="1" dirty="0">
                <a:solidFill>
                  <a:srgbClr val="7FB0F5"/>
                </a:solidFill>
                <a:latin typeface="Calibri" pitchFamily="34" charset="0"/>
                <a:ea typeface="Calibri" pitchFamily="34" charset="-122"/>
                <a:cs typeface="Calibri" pitchFamily="34" charset="-120"/>
              </a:rPr>
              <a:t>RFC 6979</a:t>
            </a:r>
            <a:endParaRPr lang="en-US" sz="1500" dirty="0"/>
          </a:p>
        </p:txBody>
      </p:sp>
      <p:sp>
        <p:nvSpPr>
          <p:cNvPr id="9" name="Text 7"/>
          <p:cNvSpPr txBox="1"/>
          <p:nvPr/>
        </p:nvSpPr>
        <p:spPr>
          <a:xfrm>
            <a:off x="822960" y="4370832"/>
            <a:ext cx="2953512" cy="1005840"/>
          </a:xfrm>
          <a:prstGeom prst="rect">
            <a:avLst/>
          </a:prstGeom>
          <a:noFill/>
          <a:ln/>
        </p:spPr>
        <p:txBody>
          <a:bodyPr wrap="square" lIns="0" tIns="0" rIns="0" bIns="0" rtlCol="0" anchor="t"/>
          <a:lstStyle/>
          <a:p>
            <a:pPr algn="l" indent="0" marL="0">
              <a:lnSpc>
                <a:spcPct val="118000"/>
              </a:lnSpc>
              <a:buNone/>
            </a:pPr>
            <a:r>
              <a:rPr lang="en-US" sz="1250" dirty="0">
                <a:solidFill>
                  <a:srgbClr val="D6DEE6"/>
                </a:solidFill>
                <a:latin typeface="Calibri" pitchFamily="34" charset="0"/>
                <a:ea typeface="Calibri" pitchFamily="34" charset="-122"/>
                <a:cs typeface="Calibri" pitchFamily="34" charset="-120"/>
              </a:rPr>
              <a:t>k becomes a PRF of the private key and the message. Randomness is removed from the equation entirely.</a:t>
            </a:r>
            <a:endParaRPr lang="en-US" sz="1250" dirty="0"/>
          </a:p>
        </p:txBody>
      </p:sp>
      <p:sp>
        <p:nvSpPr>
          <p:cNvPr id="10" name="Shape 8"/>
          <p:cNvSpPr/>
          <p:nvPr/>
        </p:nvSpPr>
        <p:spPr>
          <a:xfrm>
            <a:off x="4334256" y="3749040"/>
            <a:ext cx="3502152" cy="1783080"/>
          </a:xfrm>
          <a:prstGeom prst="roundRect">
            <a:avLst>
              <a:gd name="adj" fmla="val 3077"/>
            </a:avLst>
          </a:prstGeom>
          <a:solidFill>
            <a:srgbClr val="1C2530"/>
          </a:solidFill>
          <a:ln/>
        </p:spPr>
      </p:sp>
      <p:sp>
        <p:nvSpPr>
          <p:cNvPr id="11" name="Text 9"/>
          <p:cNvSpPr txBox="1"/>
          <p:nvPr/>
        </p:nvSpPr>
        <p:spPr>
          <a:xfrm>
            <a:off x="4608576" y="3959352"/>
            <a:ext cx="2953512" cy="292608"/>
          </a:xfrm>
          <a:prstGeom prst="rect">
            <a:avLst/>
          </a:prstGeom>
          <a:noFill/>
          <a:ln/>
        </p:spPr>
        <p:txBody>
          <a:bodyPr wrap="square" lIns="0" tIns="0" rIns="0" bIns="0" rtlCol="0" anchor="ctr"/>
          <a:lstStyle/>
          <a:p>
            <a:pPr indent="0" marL="0">
              <a:buNone/>
            </a:pPr>
            <a:r>
              <a:rPr lang="en-US" sz="1500" b="1" dirty="0">
                <a:solidFill>
                  <a:srgbClr val="E08A4A"/>
                </a:solidFill>
                <a:latin typeface="Calibri" pitchFamily="34" charset="0"/>
                <a:ea typeface="Calibri" pitchFamily="34" charset="-122"/>
                <a:cs typeface="Calibri" pitchFamily="34" charset="-120"/>
              </a:rPr>
              <a:t>Our documented deviation</a:t>
            </a:r>
            <a:endParaRPr lang="en-US" sz="1500" dirty="0"/>
          </a:p>
        </p:txBody>
      </p:sp>
      <p:sp>
        <p:nvSpPr>
          <p:cNvPr id="12" name="Text 10"/>
          <p:cNvSpPr txBox="1"/>
          <p:nvPr/>
        </p:nvSpPr>
        <p:spPr>
          <a:xfrm>
            <a:off x="4608576" y="4370832"/>
            <a:ext cx="2953512" cy="1005840"/>
          </a:xfrm>
          <a:prstGeom prst="rect">
            <a:avLst/>
          </a:prstGeom>
          <a:noFill/>
          <a:ln/>
        </p:spPr>
        <p:txBody>
          <a:bodyPr wrap="square" lIns="0" tIns="0" rIns="0" bIns="0" rtlCol="0" anchor="t"/>
          <a:lstStyle/>
          <a:p>
            <a:pPr algn="l" indent="0" marL="0">
              <a:lnSpc>
                <a:spcPct val="118000"/>
              </a:lnSpc>
              <a:buNone/>
            </a:pPr>
            <a:r>
              <a:rPr lang="en-US" sz="1250" dirty="0">
                <a:solidFill>
                  <a:srgbClr val="D6DEE6"/>
                </a:solidFill>
                <a:latin typeface="Calibri" pitchFamily="34" charset="0"/>
                <a:ea typeface="Calibri" pitchFamily="34" charset="-122"/>
                <a:cs typeface="Calibri" pitchFamily="34" charset="-120"/>
              </a:rPr>
              <a:t>We instantiate the PRF with keyed BLAKE2b, not HMAC. BLAKE2b is a PRF on its own, so HMAC's nesting buys nothing here.</a:t>
            </a:r>
            <a:endParaRPr lang="en-US" sz="1250" dirty="0"/>
          </a:p>
        </p:txBody>
      </p:sp>
      <p:sp>
        <p:nvSpPr>
          <p:cNvPr id="13" name="Shape 11"/>
          <p:cNvSpPr/>
          <p:nvPr/>
        </p:nvSpPr>
        <p:spPr>
          <a:xfrm>
            <a:off x="8119872" y="3749040"/>
            <a:ext cx="3502152" cy="1783080"/>
          </a:xfrm>
          <a:prstGeom prst="roundRect">
            <a:avLst>
              <a:gd name="adj" fmla="val 3077"/>
            </a:avLst>
          </a:prstGeom>
          <a:solidFill>
            <a:srgbClr val="1C2530"/>
          </a:solidFill>
          <a:ln/>
        </p:spPr>
      </p:sp>
      <p:sp>
        <p:nvSpPr>
          <p:cNvPr id="14" name="Text 12"/>
          <p:cNvSpPr txBox="1"/>
          <p:nvPr/>
        </p:nvSpPr>
        <p:spPr>
          <a:xfrm>
            <a:off x="8394192" y="3959352"/>
            <a:ext cx="2953512" cy="292608"/>
          </a:xfrm>
          <a:prstGeom prst="rect">
            <a:avLst/>
          </a:prstGeom>
          <a:noFill/>
          <a:ln/>
        </p:spPr>
        <p:txBody>
          <a:bodyPr wrap="square" lIns="0" tIns="0" rIns="0" bIns="0" rtlCol="0" anchor="ctr"/>
          <a:lstStyle/>
          <a:p>
            <a:pPr indent="0" marL="0">
              <a:buNone/>
            </a:pPr>
            <a:r>
              <a:rPr lang="en-US" sz="1500" b="1" dirty="0">
                <a:solidFill>
                  <a:srgbClr val="7FB0F5"/>
                </a:solidFill>
                <a:latin typeface="Calibri" pitchFamily="34" charset="0"/>
                <a:ea typeface="Calibri" pitchFamily="34" charset="-122"/>
                <a:cs typeface="Calibri" pitchFamily="34" charset="-120"/>
              </a:rPr>
              <a:t>How we proved it</a:t>
            </a:r>
            <a:endParaRPr lang="en-US" sz="1500" dirty="0"/>
          </a:p>
        </p:txBody>
      </p:sp>
      <p:sp>
        <p:nvSpPr>
          <p:cNvPr id="15" name="Text 13"/>
          <p:cNvSpPr txBox="1"/>
          <p:nvPr/>
        </p:nvSpPr>
        <p:spPr>
          <a:xfrm>
            <a:off x="8394192" y="4370832"/>
            <a:ext cx="2953512" cy="1005840"/>
          </a:xfrm>
          <a:prstGeom prst="rect">
            <a:avLst/>
          </a:prstGeom>
          <a:noFill/>
          <a:ln/>
        </p:spPr>
        <p:txBody>
          <a:bodyPr wrap="square" lIns="0" tIns="0" rIns="0" bIns="0" rtlCol="0" anchor="t"/>
          <a:lstStyle/>
          <a:p>
            <a:pPr algn="l" indent="0" marL="0">
              <a:lnSpc>
                <a:spcPct val="118000"/>
              </a:lnSpc>
              <a:buNone/>
            </a:pPr>
            <a:r>
              <a:rPr lang="en-US" sz="1250" dirty="0">
                <a:solidFill>
                  <a:srgbClr val="D6DEE6"/>
                </a:solidFill>
                <a:latin typeface="Calibri" pitchFamily="34" charset="0"/>
                <a:ea typeface="Calibri" pitchFamily="34" charset="-122"/>
                <a:cs typeface="Calibri" pitchFamily="34" charset="-120"/>
              </a:rPr>
              <a:t>generate_k() takes its MAC as a parameter. The tests run it with HMAC-SHA256 against RFC 6979's own published k values.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Composition is where designs fail</a:t>
            </a:r>
            <a:endParaRPr lang="en-US" sz="3200" dirty="0"/>
          </a:p>
        </p:txBody>
      </p:sp>
      <p:sp>
        <p:nvSpPr>
          <p:cNvPr id="3" name="Shape 1"/>
          <p:cNvSpPr/>
          <p:nvPr/>
        </p:nvSpPr>
        <p:spPr>
          <a:xfrm>
            <a:off x="548640" y="1371600"/>
            <a:ext cx="11064240" cy="1133856"/>
          </a:xfrm>
          <a:prstGeom prst="roundRect">
            <a:avLst>
              <a:gd name="adj" fmla="val 4839"/>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4" name="Shape 2"/>
          <p:cNvSpPr/>
          <p:nvPr/>
        </p:nvSpPr>
        <p:spPr>
          <a:xfrm>
            <a:off x="841248" y="1591056"/>
            <a:ext cx="420624" cy="420624"/>
          </a:xfrm>
          <a:prstGeom prst="ellipse">
            <a:avLst/>
          </a:prstGeom>
          <a:solidFill>
            <a:srgbClr val="2F6FD0"/>
          </a:solidFill>
          <a:ln/>
        </p:spPr>
      </p:sp>
      <p:sp>
        <p:nvSpPr>
          <p:cNvPr id="5" name="Text 3"/>
          <p:cNvSpPr txBox="1"/>
          <p:nvPr/>
        </p:nvSpPr>
        <p:spPr>
          <a:xfrm>
            <a:off x="841248" y="15910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1554480"/>
            <a:ext cx="9784080" cy="292608"/>
          </a:xfrm>
          <a:prstGeom prst="rect">
            <a:avLst/>
          </a:prstGeom>
          <a:noFill/>
          <a:ln/>
        </p:spPr>
        <p:txBody>
          <a:bodyPr wrap="square" lIns="0" tIns="0" rIns="0" bIns="0" rtlCol="0" anchor="ctr"/>
          <a:lstStyle/>
          <a:p>
            <a:pPr indent="0" marL="0">
              <a:buNone/>
            </a:pPr>
            <a:r>
              <a:rPr lang="en-US" sz="1600" b="1" dirty="0">
                <a:solidFill>
                  <a:srgbClr val="111820"/>
                </a:solidFill>
                <a:latin typeface="Calibri" pitchFamily="34" charset="0"/>
                <a:ea typeface="Calibri" pitchFamily="34" charset="-122"/>
                <a:cs typeface="Calibri" pitchFamily="34" charset="-120"/>
              </a:rPr>
              <a:t>Within a document</a:t>
            </a:r>
            <a:endParaRPr lang="en-US" sz="1600" dirty="0"/>
          </a:p>
        </p:txBody>
      </p:sp>
      <p:sp>
        <p:nvSpPr>
          <p:cNvPr id="7" name="Text 5"/>
          <p:cNvSpPr txBox="1"/>
          <p:nvPr/>
        </p:nvSpPr>
        <p:spPr>
          <a:xfrm>
            <a:off x="1463040" y="1920240"/>
            <a:ext cx="9692640" cy="54864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GCM composes encryption and authentication in the encrypt-then-MAC order by construction, and we never touch that order. The tag is checked before any plaintext is released.</a:t>
            </a:r>
            <a:endParaRPr lang="en-US" sz="1300" dirty="0"/>
          </a:p>
        </p:txBody>
      </p:sp>
      <p:sp>
        <p:nvSpPr>
          <p:cNvPr id="8" name="Shape 6"/>
          <p:cNvSpPr/>
          <p:nvPr/>
        </p:nvSpPr>
        <p:spPr>
          <a:xfrm>
            <a:off x="548640" y="2688336"/>
            <a:ext cx="11064240" cy="1133856"/>
          </a:xfrm>
          <a:prstGeom prst="roundRect">
            <a:avLst>
              <a:gd name="adj" fmla="val 4839"/>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9" name="Shape 7"/>
          <p:cNvSpPr/>
          <p:nvPr/>
        </p:nvSpPr>
        <p:spPr>
          <a:xfrm>
            <a:off x="841248" y="2907792"/>
            <a:ext cx="420624" cy="420624"/>
          </a:xfrm>
          <a:prstGeom prst="ellipse">
            <a:avLst/>
          </a:prstGeom>
          <a:solidFill>
            <a:srgbClr val="2F6FD0"/>
          </a:solidFill>
          <a:ln/>
        </p:spPr>
      </p:sp>
      <p:sp>
        <p:nvSpPr>
          <p:cNvPr id="10" name="Text 8"/>
          <p:cNvSpPr txBox="1"/>
          <p:nvPr/>
        </p:nvSpPr>
        <p:spPr>
          <a:xfrm>
            <a:off x="841248" y="29077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463040" y="2871216"/>
            <a:ext cx="9784080" cy="292608"/>
          </a:xfrm>
          <a:prstGeom prst="rect">
            <a:avLst/>
          </a:prstGeom>
          <a:noFill/>
          <a:ln/>
        </p:spPr>
        <p:txBody>
          <a:bodyPr wrap="square" lIns="0" tIns="0" rIns="0" bIns="0" rtlCol="0" anchor="ctr"/>
          <a:lstStyle/>
          <a:p>
            <a:pPr indent="0" marL="0">
              <a:buNone/>
            </a:pPr>
            <a:r>
              <a:rPr lang="en-US" sz="1600" b="1" dirty="0">
                <a:solidFill>
                  <a:srgbClr val="111820"/>
                </a:solidFill>
                <a:latin typeface="Calibri" pitchFamily="34" charset="0"/>
                <a:ea typeface="Calibri" pitchFamily="34" charset="-122"/>
                <a:cs typeface="Calibri" pitchFamily="34" charset="-120"/>
              </a:rPr>
              <a:t>Within a share — sign-then-encrypt</a:t>
            </a:r>
            <a:endParaRPr lang="en-US" sz="1600" dirty="0"/>
          </a:p>
        </p:txBody>
      </p:sp>
      <p:sp>
        <p:nvSpPr>
          <p:cNvPr id="12" name="Text 10"/>
          <p:cNvSpPr txBox="1"/>
          <p:nvPr/>
        </p:nvSpPr>
        <p:spPr>
          <a:xfrm>
            <a:off x="1463040" y="3236976"/>
            <a:ext cx="9692640" cy="54864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The signature sits inside the encryption, so the server cannot tell who signed. That order costs us surreptitious forwarding, which we close by binding the recipient's identity inside the signed manifest.</a:t>
            </a:r>
            <a:endParaRPr lang="en-US" sz="1300" dirty="0"/>
          </a:p>
        </p:txBody>
      </p:sp>
      <p:sp>
        <p:nvSpPr>
          <p:cNvPr id="13" name="Shape 11"/>
          <p:cNvSpPr/>
          <p:nvPr/>
        </p:nvSpPr>
        <p:spPr>
          <a:xfrm>
            <a:off x="548640" y="4005072"/>
            <a:ext cx="11064240" cy="1133856"/>
          </a:xfrm>
          <a:prstGeom prst="roundRect">
            <a:avLst>
              <a:gd name="adj" fmla="val 4839"/>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4" name="Shape 12"/>
          <p:cNvSpPr/>
          <p:nvPr/>
        </p:nvSpPr>
        <p:spPr>
          <a:xfrm>
            <a:off x="841248" y="4224528"/>
            <a:ext cx="420624" cy="420624"/>
          </a:xfrm>
          <a:prstGeom prst="ellipse">
            <a:avLst/>
          </a:prstGeom>
          <a:solidFill>
            <a:srgbClr val="2F6FD0"/>
          </a:solidFill>
          <a:ln/>
        </p:spPr>
      </p:sp>
      <p:sp>
        <p:nvSpPr>
          <p:cNvPr id="15" name="Text 13"/>
          <p:cNvSpPr txBox="1"/>
          <p:nvPr/>
        </p:nvSpPr>
        <p:spPr>
          <a:xfrm>
            <a:off x="841248" y="42245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463040" y="4187952"/>
            <a:ext cx="9784080" cy="292608"/>
          </a:xfrm>
          <a:prstGeom prst="rect">
            <a:avLst/>
          </a:prstGeom>
          <a:noFill/>
          <a:ln/>
        </p:spPr>
        <p:txBody>
          <a:bodyPr wrap="square" lIns="0" tIns="0" rIns="0" bIns="0" rtlCol="0" anchor="ctr"/>
          <a:lstStyle/>
          <a:p>
            <a:pPr indent="0" marL="0">
              <a:buNone/>
            </a:pPr>
            <a:r>
              <a:rPr lang="en-US" sz="1600" b="1" dirty="0">
                <a:solidFill>
                  <a:srgbClr val="111820"/>
                </a:solidFill>
                <a:latin typeface="Calibri" pitchFamily="34" charset="0"/>
                <a:ea typeface="Calibri" pitchFamily="34" charset="-122"/>
                <a:cs typeface="Calibri" pitchFamily="34" charset="-120"/>
              </a:rPr>
              <a:t>Across objects</a:t>
            </a:r>
            <a:endParaRPr lang="en-US" sz="1600" dirty="0"/>
          </a:p>
        </p:txBody>
      </p:sp>
      <p:sp>
        <p:nvSpPr>
          <p:cNvPr id="17" name="Text 15"/>
          <p:cNvSpPr txBox="1"/>
          <p:nvPr/>
        </p:nvSpPr>
        <p:spPr>
          <a:xfrm>
            <a:off x="1463040" y="4553712"/>
            <a:ext cx="9692640" cy="54864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One signed manifest commits to the plaintext hash, the metadata hash, both identities, the document id and the time. An attacker who mixes pieces from two valid exchanges produces an object where one binding fails.</a:t>
            </a:r>
            <a:endParaRPr lang="en-US" sz="1300" dirty="0"/>
          </a:p>
        </p:txBody>
      </p:sp>
      <p:sp>
        <p:nvSpPr>
          <p:cNvPr id="18" name="Text 16"/>
          <p:cNvSpPr txBox="1"/>
          <p:nvPr/>
        </p:nvSpPr>
        <p:spPr>
          <a:xfrm>
            <a:off x="548640" y="5577840"/>
            <a:ext cx="11064240" cy="384048"/>
          </a:xfrm>
          <a:prstGeom prst="rect">
            <a:avLst/>
          </a:prstGeom>
          <a:noFill/>
          <a:ln/>
        </p:spPr>
        <p:txBody>
          <a:bodyPr wrap="square" lIns="0" tIns="0" rIns="0" bIns="0" rtlCol="0" anchor="t"/>
          <a:lstStyle/>
          <a:p>
            <a:pPr indent="0" marL="0">
              <a:buNone/>
            </a:pPr>
            <a:r>
              <a:rPr lang="en-US" sz="1150" dirty="0">
                <a:solidFill>
                  <a:srgbClr val="6A7179"/>
                </a:solidFill>
                <a:latin typeface="Calibri" pitchFamily="34" charset="0"/>
                <a:ea typeface="Calibri" pitchFamily="34" charset="-122"/>
                <a:cs typeface="Calibri" pitchFamily="34" charset="-120"/>
              </a:rPr>
              <a:t>Freshness takes two mechanisms: a signed 300-second window bounds how long a captured object is useful, and a record of every accepted manifest id — kept inside the encrypted keyring, so it follows the user between machines — refuses replays inside that window, which a timestamp alone cannot do.</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6FD0"/>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ctr"/>
          <a:lstStyle/>
          <a:p>
            <a:pPr indent="0" marL="0">
              <a:buNone/>
            </a:pPr>
            <a:r>
              <a:rPr lang="en-US" sz="1100" b="1" spc="160" kern="0" dirty="0">
                <a:solidFill>
                  <a:srgbClr val="CFE1FF"/>
                </a:solidFill>
                <a:latin typeface="Courier New" pitchFamily="34" charset="0"/>
                <a:ea typeface="Courier New" pitchFamily="34" charset="-122"/>
                <a:cs typeface="Courier New" pitchFamily="34" charset="-120"/>
              </a:rPr>
              <a:t>PYTHON DEMO/RUN_DEMO.PY</a:t>
            </a:r>
            <a:endParaRPr lang="en-US" sz="11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Live demonstration — nine checks</a:t>
            </a:r>
            <a:endParaRPr lang="en-US" sz="3400" dirty="0"/>
          </a:p>
        </p:txBody>
      </p:sp>
      <p:sp>
        <p:nvSpPr>
          <p:cNvPr id="4" name="Shape 2"/>
          <p:cNvSpPr/>
          <p:nvPr/>
        </p:nvSpPr>
        <p:spPr>
          <a:xfrm>
            <a:off x="548640" y="1691640"/>
            <a:ext cx="420624" cy="420624"/>
          </a:xfrm>
          <a:prstGeom prst="ellipse">
            <a:avLst/>
          </a:prstGeom>
          <a:solidFill>
            <a:srgbClr val="1A4FA0"/>
          </a:solidFill>
          <a:ln/>
        </p:spPr>
      </p:sp>
      <p:sp>
        <p:nvSpPr>
          <p:cNvPr id="5" name="Text 3"/>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15568" y="1737360"/>
            <a:ext cx="475488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Two users register and log in, in separate directories</a:t>
            </a:r>
            <a:endParaRPr lang="en-US" sz="1400" dirty="0"/>
          </a:p>
        </p:txBody>
      </p:sp>
      <p:sp>
        <p:nvSpPr>
          <p:cNvPr id="7" name="Shape 5"/>
          <p:cNvSpPr/>
          <p:nvPr/>
        </p:nvSpPr>
        <p:spPr>
          <a:xfrm>
            <a:off x="548640" y="2441448"/>
            <a:ext cx="420624" cy="420624"/>
          </a:xfrm>
          <a:prstGeom prst="ellipse">
            <a:avLst/>
          </a:prstGeom>
          <a:solidFill>
            <a:srgbClr val="1A4FA0"/>
          </a:solidFill>
          <a:ln/>
        </p:spPr>
      </p:sp>
      <p:sp>
        <p:nvSpPr>
          <p:cNvPr id="8" name="Text 6"/>
          <p:cNvSpPr txBox="1"/>
          <p:nvPr/>
        </p:nvSpPr>
        <p:spPr>
          <a:xfrm>
            <a:off x="548640" y="24414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115568" y="2487168"/>
            <a:ext cx="475488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The stored credential record reveals nothing about the password</a:t>
            </a:r>
            <a:endParaRPr lang="en-US" sz="1400" dirty="0"/>
          </a:p>
        </p:txBody>
      </p:sp>
      <p:sp>
        <p:nvSpPr>
          <p:cNvPr id="10" name="Shape 8"/>
          <p:cNvSpPr/>
          <p:nvPr/>
        </p:nvSpPr>
        <p:spPr>
          <a:xfrm>
            <a:off x="548640" y="3191256"/>
            <a:ext cx="420624" cy="420624"/>
          </a:xfrm>
          <a:prstGeom prst="ellipse">
            <a:avLst/>
          </a:prstGeom>
          <a:solidFill>
            <a:srgbClr val="1A4FA0"/>
          </a:solidFill>
          <a:ln/>
        </p:spPr>
      </p:sp>
      <p:sp>
        <p:nvSpPr>
          <p:cNvPr id="11" name="Text 9"/>
          <p:cNvSpPr txBox="1"/>
          <p:nvPr/>
        </p:nvSpPr>
        <p:spPr>
          <a:xfrm>
            <a:off x="548640"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115568" y="3236976"/>
            <a:ext cx="475488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A document is uploaded; the server's copy is unreadable</a:t>
            </a:r>
            <a:endParaRPr lang="en-US" sz="1400" dirty="0"/>
          </a:p>
        </p:txBody>
      </p:sp>
      <p:sp>
        <p:nvSpPr>
          <p:cNvPr id="13" name="Shape 11"/>
          <p:cNvSpPr/>
          <p:nvPr/>
        </p:nvSpPr>
        <p:spPr>
          <a:xfrm>
            <a:off x="548640" y="3941064"/>
            <a:ext cx="420624" cy="420624"/>
          </a:xfrm>
          <a:prstGeom prst="ellipse">
            <a:avLst/>
          </a:prstGeom>
          <a:solidFill>
            <a:srgbClr val="1A4FA0"/>
          </a:solidFill>
          <a:ln/>
        </p:spPr>
      </p:sp>
      <p:sp>
        <p:nvSpPr>
          <p:cNvPr id="14" name="Text 12"/>
          <p:cNvSpPr txBox="1"/>
          <p:nvPr/>
        </p:nvSpPr>
        <p:spPr>
          <a:xfrm>
            <a:off x="548640" y="39410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115568" y="3986784"/>
            <a:ext cx="475488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The document is shared, and the second user opens it</a:t>
            </a:r>
            <a:endParaRPr lang="en-US" sz="1400" dirty="0"/>
          </a:p>
        </p:txBody>
      </p:sp>
      <p:sp>
        <p:nvSpPr>
          <p:cNvPr id="16" name="Shape 14"/>
          <p:cNvSpPr/>
          <p:nvPr/>
        </p:nvSpPr>
        <p:spPr>
          <a:xfrm>
            <a:off x="548640" y="4690872"/>
            <a:ext cx="420624" cy="420624"/>
          </a:xfrm>
          <a:prstGeom prst="ellipse">
            <a:avLst/>
          </a:prstGeom>
          <a:solidFill>
            <a:srgbClr val="1A4FA0"/>
          </a:solidFill>
          <a:ln/>
        </p:spPr>
      </p:sp>
      <p:sp>
        <p:nvSpPr>
          <p:cNvPr id="17" name="Text 15"/>
          <p:cNvSpPr txBox="1"/>
          <p:nvPr/>
        </p:nvSpPr>
        <p:spPr>
          <a:xfrm>
            <a:off x="548640" y="4690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115568" y="4736592"/>
            <a:ext cx="475488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The recipient learns who produced it — and can prove it</a:t>
            </a:r>
            <a:endParaRPr lang="en-US" sz="1400" dirty="0"/>
          </a:p>
        </p:txBody>
      </p:sp>
      <p:sp>
        <p:nvSpPr>
          <p:cNvPr id="19" name="Shape 17"/>
          <p:cNvSpPr/>
          <p:nvPr/>
        </p:nvSpPr>
        <p:spPr>
          <a:xfrm>
            <a:off x="6400800" y="1691640"/>
            <a:ext cx="420624" cy="420624"/>
          </a:xfrm>
          <a:prstGeom prst="ellipse">
            <a:avLst/>
          </a:prstGeom>
          <a:solidFill>
            <a:srgbClr val="1A4FA0"/>
          </a:solidFill>
          <a:ln/>
        </p:spPr>
      </p:sp>
      <p:sp>
        <p:nvSpPr>
          <p:cNvPr id="20" name="Text 18"/>
          <p:cNvSpPr txBox="1"/>
          <p:nvPr/>
        </p:nvSpPr>
        <p:spPr>
          <a:xfrm>
            <a:off x="6400800" y="1691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6967728" y="1737360"/>
            <a:ext cx="466344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A single byte of the ciphertext is altered</a:t>
            </a:r>
            <a:endParaRPr lang="en-US" sz="1400" dirty="0"/>
          </a:p>
        </p:txBody>
      </p:sp>
      <p:sp>
        <p:nvSpPr>
          <p:cNvPr id="22" name="Shape 20"/>
          <p:cNvSpPr/>
          <p:nvPr/>
        </p:nvSpPr>
        <p:spPr>
          <a:xfrm>
            <a:off x="6400800" y="2441448"/>
            <a:ext cx="420624" cy="420624"/>
          </a:xfrm>
          <a:prstGeom prst="ellipse">
            <a:avLst/>
          </a:prstGeom>
          <a:solidFill>
            <a:srgbClr val="1A4FA0"/>
          </a:solidFill>
          <a:ln/>
        </p:spPr>
      </p:sp>
      <p:sp>
        <p:nvSpPr>
          <p:cNvPr id="23" name="Text 21"/>
          <p:cNvSpPr txBox="1"/>
          <p:nvPr/>
        </p:nvSpPr>
        <p:spPr>
          <a:xfrm>
            <a:off x="6400800" y="24414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4" name="Text 22"/>
          <p:cNvSpPr txBox="1"/>
          <p:nvPr/>
        </p:nvSpPr>
        <p:spPr>
          <a:xfrm>
            <a:off x="6967728" y="2487168"/>
            <a:ext cx="466344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A field of the metadata is altered</a:t>
            </a:r>
            <a:endParaRPr lang="en-US" sz="1400" dirty="0"/>
          </a:p>
        </p:txBody>
      </p:sp>
      <p:sp>
        <p:nvSpPr>
          <p:cNvPr id="25" name="Shape 23"/>
          <p:cNvSpPr/>
          <p:nvPr/>
        </p:nvSpPr>
        <p:spPr>
          <a:xfrm>
            <a:off x="6400800" y="3191256"/>
            <a:ext cx="420624" cy="420624"/>
          </a:xfrm>
          <a:prstGeom prst="ellipse">
            <a:avLst/>
          </a:prstGeom>
          <a:solidFill>
            <a:srgbClr val="1A4FA0"/>
          </a:solidFill>
          <a:ln/>
        </p:spPr>
      </p:sp>
      <p:sp>
        <p:nvSpPr>
          <p:cNvPr id="26" name="Text 24"/>
          <p:cNvSpPr txBox="1"/>
          <p:nvPr/>
        </p:nvSpPr>
        <p:spPr>
          <a:xfrm>
            <a:off x="6400800"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7" name="Text 25"/>
          <p:cNvSpPr txBox="1"/>
          <p:nvPr/>
        </p:nvSpPr>
        <p:spPr>
          <a:xfrm>
            <a:off x="6967728" y="3236976"/>
            <a:ext cx="466344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An old captured object is replayed</a:t>
            </a:r>
            <a:endParaRPr lang="en-US" sz="1400" dirty="0"/>
          </a:p>
        </p:txBody>
      </p:sp>
      <p:sp>
        <p:nvSpPr>
          <p:cNvPr id="28" name="Shape 26"/>
          <p:cNvSpPr/>
          <p:nvPr/>
        </p:nvSpPr>
        <p:spPr>
          <a:xfrm>
            <a:off x="6400800" y="3941064"/>
            <a:ext cx="420624" cy="420624"/>
          </a:xfrm>
          <a:prstGeom prst="ellipse">
            <a:avLst/>
          </a:prstGeom>
          <a:solidFill>
            <a:srgbClr val="1A4FA0"/>
          </a:solidFill>
          <a:ln/>
        </p:spPr>
      </p:sp>
      <p:sp>
        <p:nvSpPr>
          <p:cNvPr id="29" name="Text 27"/>
          <p:cNvSpPr txBox="1"/>
          <p:nvPr/>
        </p:nvSpPr>
        <p:spPr>
          <a:xfrm>
            <a:off x="6400800" y="39410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0" name="Text 28"/>
          <p:cNvSpPr txBox="1"/>
          <p:nvPr/>
        </p:nvSpPr>
        <p:spPr>
          <a:xfrm>
            <a:off x="6967728" y="3986784"/>
            <a:ext cx="4663440" cy="621792"/>
          </a:xfrm>
          <a:prstGeom prst="rect">
            <a:avLst/>
          </a:prstGeom>
          <a:noFill/>
          <a:ln/>
        </p:spPr>
        <p:txBody>
          <a:bodyPr wrap="square" lIns="0" tIns="0" rIns="0" bIns="0" rtlCol="0" anchor="t"/>
          <a:lstStyle/>
          <a:p>
            <a:pPr algn="l" indent="0" marL="0">
              <a:lnSpc>
                <a:spcPct val="118000"/>
              </a:lnSpc>
              <a:buNone/>
            </a:pPr>
            <a:r>
              <a:rPr lang="en-US" sz="1400" dirty="0">
                <a:solidFill>
                  <a:srgbClr val="FFFFFF"/>
                </a:solidFill>
                <a:latin typeface="Calibri" pitchFamily="34" charset="0"/>
                <a:ea typeface="Calibri" pitchFamily="34" charset="-122"/>
                <a:cs typeface="Calibri" pitchFamily="34" charset="-120"/>
              </a:rPr>
              <a:t>Every implemented primitive produces correct results</a:t>
            </a:r>
            <a:endParaRPr lang="en-US" sz="1400" dirty="0"/>
          </a:p>
        </p:txBody>
      </p:sp>
      <p:sp>
        <p:nvSpPr>
          <p:cNvPr id="31" name="Text 29"/>
          <p:cNvSpPr txBox="1"/>
          <p:nvPr/>
        </p:nvSpPr>
        <p:spPr>
          <a:xfrm>
            <a:off x="548640" y="5760720"/>
            <a:ext cx="11064240" cy="384048"/>
          </a:xfrm>
          <a:prstGeom prst="rect">
            <a:avLst/>
          </a:prstGeom>
          <a:noFill/>
          <a:ln/>
        </p:spPr>
        <p:txBody>
          <a:bodyPr wrap="square" lIns="0" tIns="0" rIns="0" bIns="0" rtlCol="0" anchor="t"/>
          <a:lstStyle/>
          <a:p>
            <a:pPr indent="0" marL="0">
              <a:buNone/>
            </a:pPr>
            <a:r>
              <a:rPr lang="en-US" sz="1150" dirty="0">
                <a:solidFill>
                  <a:srgbClr val="CFE1FF"/>
                </a:solidFill>
                <a:latin typeface="Calibri" pitchFamily="34" charset="0"/>
                <a:ea typeface="Calibri" pitchFamily="34" charset="-122"/>
                <a:cs typeface="Calibri" pitchFamily="34" charset="-120"/>
              </a:rPr>
              <a:t>Run with --pause to stop between steps.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FEA"/>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000" b="1" dirty="0">
                <a:solidFill>
                  <a:srgbClr val="111820"/>
                </a:solidFill>
                <a:latin typeface="Cambria" pitchFamily="34" charset="0"/>
                <a:ea typeface="Cambria" pitchFamily="34" charset="-122"/>
                <a:cs typeface="Cambria" pitchFamily="34" charset="-120"/>
              </a:rPr>
              <a:t>Six attacks, five programs, run against our own build</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640080"/>
                <a:gridCol w="3931920"/>
                <a:gridCol w="6492240"/>
              </a:tblGrid>
              <a:tr h="384048">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the attack</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c>
                  <a:txBody>
                    <a:bodyPr/>
                    <a:lstStyle/>
                    <a:p>
                      <a:pPr algn="l" indent="0" marL="0">
                        <a:buNone/>
                      </a:pPr>
                      <a:r>
                        <a:rPr lang="en-US" sz="1200" b="1" dirty="0">
                          <a:solidFill>
                            <a:srgbClr val="F7F8F5"/>
                          </a:solidFill>
                          <a:latin typeface="Calibri" pitchFamily="34" charset="0"/>
                          <a:ea typeface="Calibri" pitchFamily="34" charset="-122"/>
                          <a:cs typeface="Calibri" pitchFamily="34" charset="-120"/>
                        </a:rPr>
                        <a:t>what stops it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111820"/>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substituting public key material</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a CA-signed certificate, checked before any key is used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editing the stored ciphertext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GCM tag fails before a single byte of plaintext is released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editing the stored metadata</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metadata is the AAD, so the same tag covers it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replaying a captured object</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the signed timestamp window, then the accepted-manifest record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nonce reuse on a weakened build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succeeds there, fails against the correct build — see below</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offline guessing on the credential store</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c>
                  <a:txBody>
                    <a:bodyPr/>
                    <a:lstStyle/>
                    <a:p>
                      <a:pPr algn="l" indent="0" marL="0">
                        <a:buNone/>
                      </a:pPr>
                      <a:r>
                        <a:rPr lang="en-US" sz="1200" dirty="0">
                          <a:solidFill>
                            <a:srgbClr val="111820"/>
                          </a:solidFill>
                          <a:latin typeface="Calibri" pitchFamily="34" charset="0"/>
                          <a:ea typeface="Calibri" pitchFamily="34" charset="-122"/>
                          <a:cs typeface="Calibri" pitchFamily="34" charset="-120"/>
                        </a:rPr>
                        <a:t>nothing stops it; we measure how long it costs instead</a:t>
                      </a:r>
                      <a:endParaRPr lang="en-US" sz="1200" dirty="0">
                        <a:latin typeface="Calibri" charset="0"/>
                        <a:ea typeface="Calibri" charset="0"/>
                        <a:cs typeface="Calibri" charset="0"/>
                      </a:endParaRPr>
                    </a:p>
                  </a:txBody>
                  <a:tcPr marL="91440" marR="91440" marT="45720" marB="45720" anchor="ctr">
                    <a:lnL w="9525" cap="flat" cmpd="sng" algn="ctr">
                      <a:solidFill>
                        <a:srgbClr val="C9CEC4"/>
                      </a:solidFill>
                      <a:prstDash val="solid"/>
                      <a:round/>
                      <a:headEnd type="none" w="med" len="med"/>
                      <a:tailEnd type="none" w="med" len="med"/>
                    </a:lnL>
                    <a:lnR w="9525" cap="flat" cmpd="sng" algn="ctr">
                      <a:solidFill>
                        <a:srgbClr val="C9CEC4"/>
                      </a:solidFill>
                      <a:prstDash val="solid"/>
                      <a:round/>
                      <a:headEnd type="none" w="med" len="med"/>
                      <a:tailEnd type="none" w="med" len="med"/>
                    </a:lnR>
                    <a:lnT w="9525" cap="flat" cmpd="sng" algn="ctr">
                      <a:solidFill>
                        <a:srgbClr val="C9CEC4"/>
                      </a:solidFill>
                      <a:prstDash val="solid"/>
                      <a:round/>
                      <a:headEnd type="none" w="med" len="med"/>
                      <a:tailEnd type="none" w="med" len="med"/>
                    </a:lnT>
                    <a:lnB w="9525" cap="flat" cmpd="sng" algn="ctr">
                      <a:solidFill>
                        <a:srgbClr val="C9CEC4"/>
                      </a:solidFill>
                      <a:prstDash val="solid"/>
                      <a:round/>
                      <a:headEnd type="none" w="med" len="med"/>
                      <a:tailEnd type="none" w="med" len="med"/>
                    </a:lnB>
                    <a:solidFill>
                      <a:srgbClr val="EDEFEA"/>
                    </a:solidFill>
                  </a:tcPr>
                </a:tc>
              </a:tr>
            </a:tbl>
          </a:graphicData>
        </a:graphic>
      </p:graphicFrame>
      <p:sp>
        <p:nvSpPr>
          <p:cNvPr id="4" name="Shape 1"/>
          <p:cNvSpPr/>
          <p:nvPr/>
        </p:nvSpPr>
        <p:spPr>
          <a:xfrm>
            <a:off x="548640" y="4251960"/>
            <a:ext cx="11064240" cy="1463040"/>
          </a:xfrm>
          <a:prstGeom prst="roundRect">
            <a:avLst>
              <a:gd name="adj" fmla="val 3750"/>
            </a:avLst>
          </a:prstGeom>
          <a:solidFill>
            <a:srgbClr val="111820"/>
          </a:solidFill>
          <a:ln/>
        </p:spPr>
      </p:sp>
      <p:sp>
        <p:nvSpPr>
          <p:cNvPr id="5" name="Text 2"/>
          <p:cNvSpPr txBox="1"/>
          <p:nvPr/>
        </p:nvSpPr>
        <p:spPr>
          <a:xfrm>
            <a:off x="896112" y="4453128"/>
            <a:ext cx="10369296" cy="292608"/>
          </a:xfrm>
          <a:prstGeom prst="rect">
            <a:avLst/>
          </a:prstGeom>
          <a:noFill/>
          <a:ln/>
        </p:spPr>
        <p:txBody>
          <a:bodyPr wrap="square" lIns="0" tIns="0" rIns="0" bIns="0" rtlCol="0" anchor="ctr"/>
          <a:lstStyle/>
          <a:p>
            <a:pPr indent="0" marL="0">
              <a:buNone/>
            </a:pPr>
            <a:r>
              <a:rPr lang="en-US" sz="1600" b="1" dirty="0">
                <a:solidFill>
                  <a:srgbClr val="E08A4A"/>
                </a:solidFill>
                <a:latin typeface="Calibri" pitchFamily="34" charset="0"/>
                <a:ea typeface="Calibri" pitchFamily="34" charset="-122"/>
                <a:cs typeface="Calibri" pitchFamily="34" charset="-120"/>
              </a:rPr>
              <a:t>Why attack 5 is the instructive one</a:t>
            </a:r>
            <a:endParaRPr lang="en-US" sz="1600" dirty="0"/>
          </a:p>
        </p:txBody>
      </p:sp>
      <p:sp>
        <p:nvSpPr>
          <p:cNvPr id="6" name="Text 3"/>
          <p:cNvSpPr txBox="1"/>
          <p:nvPr/>
        </p:nvSpPr>
        <p:spPr>
          <a:xfrm>
            <a:off x="896112" y="4846320"/>
            <a:ext cx="10369296" cy="777240"/>
          </a:xfrm>
          <a:prstGeom prst="rect">
            <a:avLst/>
          </a:prstGeom>
          <a:noFill/>
          <a:ln/>
        </p:spPr>
        <p:txBody>
          <a:bodyPr wrap="square" lIns="0" tIns="0" rIns="0" bIns="0" rtlCol="0" anchor="t"/>
          <a:lstStyle/>
          <a:p>
            <a:pPr algn="l" indent="0" marL="0">
              <a:lnSpc>
                <a:spcPct val="118000"/>
              </a:lnSpc>
              <a:buNone/>
            </a:pPr>
            <a:r>
              <a:rPr lang="en-US" sz="1400" dirty="0">
                <a:solidFill>
                  <a:srgbClr val="D6DEE6"/>
                </a:solidFill>
                <a:latin typeface="Calibri" pitchFamily="34" charset="0"/>
                <a:ea typeface="Calibri" pitchFamily="34" charset="-122"/>
                <a:cs typeface="Calibri" pitchFamily="34" charset="-120"/>
              </a:rPr>
              <a:t>Showing that a defence stops an attack proves only that the attack was tried. Showing that removing the defence lets the attack through proves the defence is the reason. So we built a client that reuses one key and one nonce for everything — the exact mistake a system makes when a counter resets after a crash — and broke 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000" b="1" dirty="0">
                <a:solidFill>
                  <a:srgbClr val="F7F8F5"/>
                </a:solidFill>
                <a:latin typeface="Cambria" pitchFamily="34" charset="0"/>
                <a:ea typeface="Cambria" pitchFamily="34" charset="-122"/>
                <a:cs typeface="Cambria" pitchFamily="34" charset="-120"/>
              </a:rPr>
              <a:t>Written from scratch, with no cryptographic library</a:t>
            </a:r>
            <a:endParaRPr lang="en-US" sz="3000" dirty="0"/>
          </a:p>
        </p:txBody>
      </p:sp>
      <p:sp>
        <p:nvSpPr>
          <p:cNvPr id="3" name="Text 1"/>
          <p:cNvSpPr txBox="1"/>
          <p:nvPr/>
        </p:nvSpPr>
        <p:spPr>
          <a:xfrm>
            <a:off x="548640" y="1417320"/>
            <a:ext cx="3657600" cy="23774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BLAKE2b</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Argon2id, all three variants</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AES-128</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CTR mode</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GHASH</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the key-derivation hierarchy</a:t>
            </a:r>
            <a:endParaRPr lang="en-US" sz="1450" dirty="0"/>
          </a:p>
        </p:txBody>
      </p:sp>
      <p:sp>
        <p:nvSpPr>
          <p:cNvPr id="4" name="Text 2"/>
          <p:cNvSpPr txBox="1"/>
          <p:nvPr/>
        </p:nvSpPr>
        <p:spPr>
          <a:xfrm>
            <a:off x="4389120" y="1417320"/>
            <a:ext cx="3657600" cy="23774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AES-GCM</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P-256 field and curve arithmetic</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ECDH</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ECDSA</a:t>
            </a:r>
            <a:endParaRPr lang="en-US" sz="1450" dirty="0"/>
          </a:p>
          <a:p>
            <a:pPr marL="342900" indent="-342900">
              <a:spcAft>
                <a:spcPts val="800"/>
              </a:spcAft>
              <a:buSzPct val="100000"/>
              <a:buChar char="•"/>
            </a:pPr>
            <a:r>
              <a:rPr lang="en-US" sz="1450" dirty="0">
                <a:solidFill>
                  <a:srgbClr val="D6DEE6"/>
                </a:solidFill>
                <a:latin typeface="Calibri" pitchFamily="34" charset="0"/>
                <a:ea typeface="Calibri" pitchFamily="34" charset="-122"/>
                <a:cs typeface="Calibri" pitchFamily="34" charset="-120"/>
              </a:rPr>
              <a:t>RFC 6979 deterministic nonces</a:t>
            </a:r>
            <a:endParaRPr lang="en-US" sz="1450" dirty="0"/>
          </a:p>
        </p:txBody>
      </p:sp>
      <p:sp>
        <p:nvSpPr>
          <p:cNvPr id="5" name="Shape 3"/>
          <p:cNvSpPr/>
          <p:nvPr/>
        </p:nvSpPr>
        <p:spPr>
          <a:xfrm>
            <a:off x="8321040" y="1371600"/>
            <a:ext cx="3291840" cy="2514600"/>
          </a:xfrm>
          <a:prstGeom prst="roundRect">
            <a:avLst>
              <a:gd name="adj" fmla="val 2182"/>
            </a:avLst>
          </a:prstGeom>
          <a:solidFill>
            <a:srgbClr val="1C2530"/>
          </a:solidFill>
          <a:ln/>
        </p:spPr>
      </p:sp>
      <p:sp>
        <p:nvSpPr>
          <p:cNvPr id="6" name="Text 4"/>
          <p:cNvSpPr txBox="1"/>
          <p:nvPr/>
        </p:nvSpPr>
        <p:spPr>
          <a:xfrm>
            <a:off x="8321040" y="1645920"/>
            <a:ext cx="3291840" cy="822960"/>
          </a:xfrm>
          <a:prstGeom prst="rect">
            <a:avLst/>
          </a:prstGeom>
          <a:noFill/>
          <a:ln/>
        </p:spPr>
        <p:txBody>
          <a:bodyPr wrap="square" lIns="0" tIns="0" rIns="0" bIns="0" rtlCol="0" anchor="ctr"/>
          <a:lstStyle/>
          <a:p>
            <a:pPr algn="ctr" indent="0" marL="0">
              <a:buNone/>
            </a:pPr>
            <a:r>
              <a:rPr lang="en-US" sz="4800" b="1" dirty="0">
                <a:solidFill>
                  <a:srgbClr val="E08A4A"/>
                </a:solidFill>
                <a:latin typeface="Cambria" pitchFamily="34" charset="0"/>
                <a:ea typeface="Cambria" pitchFamily="34" charset="-122"/>
                <a:cs typeface="Cambria" pitchFamily="34" charset="-120"/>
              </a:rPr>
              <a:t>100%</a:t>
            </a:r>
            <a:endParaRPr lang="en-US" sz="4800" dirty="0"/>
          </a:p>
        </p:txBody>
      </p:sp>
      <p:sp>
        <p:nvSpPr>
          <p:cNvPr id="7" name="Text 5"/>
          <p:cNvSpPr txBox="1"/>
          <p:nvPr/>
        </p:nvSpPr>
        <p:spPr>
          <a:xfrm>
            <a:off x="8595360" y="2560320"/>
            <a:ext cx="2743200" cy="1097280"/>
          </a:xfrm>
          <a:prstGeom prst="rect">
            <a:avLst/>
          </a:prstGeom>
          <a:noFill/>
          <a:ln/>
        </p:spPr>
        <p:txBody>
          <a:bodyPr wrap="square" lIns="0" tIns="0" rIns="0" bIns="0" rtlCol="0" anchor="t"/>
          <a:lstStyle/>
          <a:p>
            <a:pPr algn="l" indent="0" marL="0">
              <a:lnSpc>
                <a:spcPct val="118000"/>
              </a:lnSpc>
              <a:buNone/>
            </a:pPr>
            <a:r>
              <a:rPr lang="en-US" sz="1300" dirty="0">
                <a:solidFill>
                  <a:srgbClr val="D6DEE6"/>
                </a:solidFill>
                <a:latin typeface="Calibri" pitchFamily="34" charset="0"/>
                <a:ea typeface="Calibri" pitchFamily="34" charset="-122"/>
                <a:cs typeface="Calibri" pitchFamily="34" charset="-120"/>
              </a:rPr>
              <a:t>Every cryptographic component the system uses — not the 70% the specification asks for.</a:t>
            </a:r>
            <a:endParaRPr lang="en-US" sz="1300" dirty="0"/>
          </a:p>
        </p:txBody>
      </p:sp>
      <p:sp>
        <p:nvSpPr>
          <p:cNvPr id="8" name="Shape 6"/>
          <p:cNvSpPr/>
          <p:nvPr/>
        </p:nvSpPr>
        <p:spPr>
          <a:xfrm>
            <a:off x="548640" y="4114800"/>
            <a:ext cx="5349240" cy="1463040"/>
          </a:xfrm>
          <a:prstGeom prst="roundRect">
            <a:avLst>
              <a:gd name="adj" fmla="val 3750"/>
            </a:avLst>
          </a:prstGeom>
          <a:solidFill>
            <a:srgbClr val="1C2530"/>
          </a:solidFill>
          <a:ln/>
        </p:spPr>
      </p:sp>
      <p:sp>
        <p:nvSpPr>
          <p:cNvPr id="9" name="Text 7"/>
          <p:cNvSpPr txBox="1"/>
          <p:nvPr/>
        </p:nvSpPr>
        <p:spPr>
          <a:xfrm>
            <a:off x="841248" y="4315968"/>
            <a:ext cx="4764024" cy="292608"/>
          </a:xfrm>
          <a:prstGeom prst="rect">
            <a:avLst/>
          </a:prstGeom>
          <a:noFill/>
          <a:ln/>
        </p:spPr>
        <p:txBody>
          <a:bodyPr wrap="square" lIns="0" tIns="0" rIns="0" bIns="0" rtlCol="0" anchor="ctr"/>
          <a:lstStyle/>
          <a:p>
            <a:pPr indent="0" marL="0">
              <a:buNone/>
            </a:pPr>
            <a:r>
              <a:rPr lang="en-US" sz="1500" b="1" dirty="0">
                <a:solidFill>
                  <a:srgbClr val="7FB0F5"/>
                </a:solidFill>
                <a:latin typeface="Calibri" pitchFamily="34" charset="0"/>
                <a:ea typeface="Calibri" pitchFamily="34" charset="-122"/>
                <a:cs typeface="Calibri" pitchFamily="34" charset="-120"/>
              </a:rPr>
              <a:t>From libraries</a:t>
            </a:r>
            <a:endParaRPr lang="en-US" sz="1500" dirty="0"/>
          </a:p>
        </p:txBody>
      </p:sp>
      <p:sp>
        <p:nvSpPr>
          <p:cNvPr id="10" name="Text 8"/>
          <p:cNvSpPr txBox="1"/>
          <p:nvPr/>
        </p:nvSpPr>
        <p:spPr>
          <a:xfrm>
            <a:off x="841248" y="4700016"/>
            <a:ext cx="4764024" cy="777240"/>
          </a:xfrm>
          <a:prstGeom prst="rect">
            <a:avLst/>
          </a:prstGeom>
          <a:noFill/>
          <a:ln/>
        </p:spPr>
        <p:txBody>
          <a:bodyPr wrap="square" lIns="0" tIns="0" rIns="0" bIns="0" rtlCol="0" anchor="t"/>
          <a:lstStyle/>
          <a:p>
            <a:pPr algn="l" indent="0" marL="0">
              <a:lnSpc>
                <a:spcPct val="118000"/>
              </a:lnSpc>
              <a:buNone/>
            </a:pPr>
            <a:r>
              <a:rPr lang="en-US" sz="1250" dirty="0">
                <a:solidFill>
                  <a:srgbClr val="D6DEE6"/>
                </a:solidFill>
                <a:latin typeface="Calibri" pitchFamily="34" charset="0"/>
                <a:ea typeface="Calibri" pitchFamily="34" charset="-122"/>
                <a:cs typeface="Calibri" pitchFamily="34" charset="-120"/>
              </a:rPr>
              <a:t>Python's arbitrary-precision integers, os.urandom, and the file, argument-parsing and interface code. The rules classify these as non-cryptographic.</a:t>
            </a:r>
            <a:endParaRPr lang="en-US" sz="1250" dirty="0"/>
          </a:p>
        </p:txBody>
      </p:sp>
      <p:sp>
        <p:nvSpPr>
          <p:cNvPr id="11" name="Shape 9"/>
          <p:cNvSpPr/>
          <p:nvPr/>
        </p:nvSpPr>
        <p:spPr>
          <a:xfrm>
            <a:off x="6263640" y="4114800"/>
            <a:ext cx="5349240" cy="1463040"/>
          </a:xfrm>
          <a:prstGeom prst="roundRect">
            <a:avLst>
              <a:gd name="adj" fmla="val 3750"/>
            </a:avLst>
          </a:prstGeom>
          <a:solidFill>
            <a:srgbClr val="1C2530"/>
          </a:solidFill>
          <a:ln/>
        </p:spPr>
      </p:sp>
      <p:sp>
        <p:nvSpPr>
          <p:cNvPr id="12" name="Text 10"/>
          <p:cNvSpPr txBox="1"/>
          <p:nvPr/>
        </p:nvSpPr>
        <p:spPr>
          <a:xfrm>
            <a:off x="6556248" y="4315968"/>
            <a:ext cx="4764024" cy="292608"/>
          </a:xfrm>
          <a:prstGeom prst="rect">
            <a:avLst/>
          </a:prstGeom>
          <a:noFill/>
          <a:ln/>
        </p:spPr>
        <p:txBody>
          <a:bodyPr wrap="square" lIns="0" tIns="0" rIns="0" bIns="0" rtlCol="0" anchor="ctr"/>
          <a:lstStyle/>
          <a:p>
            <a:pPr indent="0" marL="0">
              <a:buNone/>
            </a:pPr>
            <a:r>
              <a:rPr lang="en-US" sz="1500" b="1" dirty="0">
                <a:solidFill>
                  <a:srgbClr val="7FB0F5"/>
                </a:solidFill>
                <a:latin typeface="Calibri" pitchFamily="34" charset="0"/>
                <a:ea typeface="Calibri" pitchFamily="34" charset="-122"/>
                <a:cs typeface="Calibri" pitchFamily="34" charset="-120"/>
              </a:rPr>
              <a:t>In the tests only</a:t>
            </a:r>
            <a:endParaRPr lang="en-US" sz="1500" dirty="0"/>
          </a:p>
        </p:txBody>
      </p:sp>
      <p:sp>
        <p:nvSpPr>
          <p:cNvPr id="13" name="Text 11"/>
          <p:cNvSpPr txBox="1"/>
          <p:nvPr/>
        </p:nvSpPr>
        <p:spPr>
          <a:xfrm>
            <a:off x="6556248" y="4700016"/>
            <a:ext cx="4764024" cy="777240"/>
          </a:xfrm>
          <a:prstGeom prst="rect">
            <a:avLst/>
          </a:prstGeom>
          <a:noFill/>
          <a:ln/>
        </p:spPr>
        <p:txBody>
          <a:bodyPr wrap="square" lIns="0" tIns="0" rIns="0" bIns="0" rtlCol="0" anchor="t"/>
          <a:lstStyle/>
          <a:p>
            <a:pPr algn="l" indent="0" marL="0">
              <a:lnSpc>
                <a:spcPct val="118000"/>
              </a:lnSpc>
              <a:buNone/>
            </a:pPr>
            <a:r>
              <a:rPr lang="en-US" sz="1250" dirty="0">
                <a:solidFill>
                  <a:srgbClr val="D6DEE6"/>
                </a:solidFill>
                <a:latin typeface="Calibri" pitchFamily="34" charset="0"/>
                <a:ea typeface="Calibri" pitchFamily="34" charset="-122"/>
                <a:cs typeface="Calibri" pitchFamily="34" charset="-120"/>
              </a:rPr>
              <a:t>hashlib, hmac, cryptography and argon2-cffi, for cross-checking. No production path imports them; the tests skip cleanly if they are absent.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What this design does not stop</a:t>
            </a:r>
            <a:endParaRPr lang="en-US" sz="3200" dirty="0"/>
          </a:p>
        </p:txBody>
      </p:sp>
      <p:sp>
        <p:nvSpPr>
          <p:cNvPr id="3" name="Shape 1"/>
          <p:cNvSpPr/>
          <p:nvPr/>
        </p:nvSpPr>
        <p:spPr>
          <a:xfrm>
            <a:off x="548640" y="1417320"/>
            <a:ext cx="3502152" cy="1965960"/>
          </a:xfrm>
          <a:prstGeom prst="roundRect">
            <a:avLst>
              <a:gd name="adj" fmla="val 2791"/>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4" name="Shape 2"/>
          <p:cNvSpPr/>
          <p:nvPr/>
        </p:nvSpPr>
        <p:spPr>
          <a:xfrm>
            <a:off x="822960" y="1673352"/>
            <a:ext cx="182880" cy="182880"/>
          </a:xfrm>
          <a:prstGeom prst="ellipse">
            <a:avLst/>
          </a:prstGeom>
          <a:solidFill>
            <a:srgbClr val="C96A2B"/>
          </a:solidFill>
          <a:ln/>
        </p:spPr>
      </p:sp>
      <p:sp>
        <p:nvSpPr>
          <p:cNvPr id="5" name="Text 3"/>
          <p:cNvSpPr txBox="1"/>
          <p:nvPr/>
        </p:nvSpPr>
        <p:spPr>
          <a:xfrm>
            <a:off x="1115568" y="1600200"/>
            <a:ext cx="2633472" cy="566928"/>
          </a:xfrm>
          <a:prstGeom prst="rect">
            <a:avLst/>
          </a:prstGeom>
          <a:noFill/>
          <a:ln/>
        </p:spPr>
        <p:txBody>
          <a:bodyPr wrap="square" lIns="0" tIns="0" rIns="0" bIns="0" rtlCol="0" anchor="ctr"/>
          <a:lstStyle/>
          <a:p>
            <a:pPr indent="0" marL="0">
              <a:buNone/>
            </a:pPr>
            <a:r>
              <a:rPr lang="en-US" sz="1450" b="1" dirty="0">
                <a:solidFill>
                  <a:srgbClr val="111820"/>
                </a:solidFill>
                <a:latin typeface="Calibri" pitchFamily="34" charset="0"/>
                <a:ea typeface="Calibri" pitchFamily="34" charset="-122"/>
                <a:cs typeface="Calibri" pitchFamily="34" charset="-120"/>
              </a:rPr>
              <a:t>The CA is a trusted third party</a:t>
            </a:r>
            <a:endParaRPr lang="en-US" sz="1450" dirty="0"/>
          </a:p>
        </p:txBody>
      </p:sp>
      <p:sp>
        <p:nvSpPr>
          <p:cNvPr id="6" name="Text 4"/>
          <p:cNvSpPr txBox="1"/>
          <p:nvPr/>
        </p:nvSpPr>
        <p:spPr>
          <a:xfrm>
            <a:off x="822960" y="2258568"/>
            <a:ext cx="2953512"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A dishonest CA issues a certificate for a key it controls, and the MITM defence is gone.</a:t>
            </a:r>
            <a:endParaRPr lang="en-US" sz="1250" dirty="0"/>
          </a:p>
        </p:txBody>
      </p:sp>
      <p:sp>
        <p:nvSpPr>
          <p:cNvPr id="7" name="Shape 5"/>
          <p:cNvSpPr/>
          <p:nvPr/>
        </p:nvSpPr>
        <p:spPr>
          <a:xfrm>
            <a:off x="4334256" y="1417320"/>
            <a:ext cx="3502152" cy="1965960"/>
          </a:xfrm>
          <a:prstGeom prst="roundRect">
            <a:avLst>
              <a:gd name="adj" fmla="val 2791"/>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8" name="Shape 6"/>
          <p:cNvSpPr/>
          <p:nvPr/>
        </p:nvSpPr>
        <p:spPr>
          <a:xfrm>
            <a:off x="4608576" y="1673352"/>
            <a:ext cx="182880" cy="182880"/>
          </a:xfrm>
          <a:prstGeom prst="ellipse">
            <a:avLst/>
          </a:prstGeom>
          <a:solidFill>
            <a:srgbClr val="C96A2B"/>
          </a:solidFill>
          <a:ln/>
        </p:spPr>
      </p:sp>
      <p:sp>
        <p:nvSpPr>
          <p:cNvPr id="9" name="Text 7"/>
          <p:cNvSpPr txBox="1"/>
          <p:nvPr/>
        </p:nvSpPr>
        <p:spPr>
          <a:xfrm>
            <a:off x="4901184" y="1600200"/>
            <a:ext cx="2633472" cy="566928"/>
          </a:xfrm>
          <a:prstGeom prst="rect">
            <a:avLst/>
          </a:prstGeom>
          <a:noFill/>
          <a:ln/>
        </p:spPr>
        <p:txBody>
          <a:bodyPr wrap="square" lIns="0" tIns="0" rIns="0" bIns="0" rtlCol="0" anchor="ctr"/>
          <a:lstStyle/>
          <a:p>
            <a:pPr indent="0" marL="0">
              <a:buNone/>
            </a:pPr>
            <a:r>
              <a:rPr lang="en-US" sz="1450" b="1" dirty="0">
                <a:solidFill>
                  <a:srgbClr val="111820"/>
                </a:solidFill>
                <a:latin typeface="Calibri" pitchFamily="34" charset="0"/>
                <a:ea typeface="Calibri" pitchFamily="34" charset="-122"/>
                <a:cs typeface="Calibri" pitchFamily="34" charset="-120"/>
              </a:rPr>
              <a:t>No forward secrecy</a:t>
            </a:r>
            <a:endParaRPr lang="en-US" sz="1450" dirty="0"/>
          </a:p>
        </p:txBody>
      </p:sp>
      <p:sp>
        <p:nvSpPr>
          <p:cNvPr id="10" name="Text 8"/>
          <p:cNvSpPr txBox="1"/>
          <p:nvPr/>
        </p:nvSpPr>
        <p:spPr>
          <a:xfrm>
            <a:off x="4608576" y="2258568"/>
            <a:ext cx="2953512"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ECDH is static-static, so one stolen private key opens every past share for that user.</a:t>
            </a:r>
            <a:endParaRPr lang="en-US" sz="1250" dirty="0"/>
          </a:p>
        </p:txBody>
      </p:sp>
      <p:sp>
        <p:nvSpPr>
          <p:cNvPr id="11" name="Shape 9"/>
          <p:cNvSpPr/>
          <p:nvPr/>
        </p:nvSpPr>
        <p:spPr>
          <a:xfrm>
            <a:off x="8119872" y="1417320"/>
            <a:ext cx="3502152" cy="1965960"/>
          </a:xfrm>
          <a:prstGeom prst="roundRect">
            <a:avLst>
              <a:gd name="adj" fmla="val 2791"/>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2" name="Shape 10"/>
          <p:cNvSpPr/>
          <p:nvPr/>
        </p:nvSpPr>
        <p:spPr>
          <a:xfrm>
            <a:off x="8394192" y="1673352"/>
            <a:ext cx="182880" cy="182880"/>
          </a:xfrm>
          <a:prstGeom prst="ellipse">
            <a:avLst/>
          </a:prstGeom>
          <a:solidFill>
            <a:srgbClr val="C96A2B"/>
          </a:solidFill>
          <a:ln/>
        </p:spPr>
      </p:sp>
      <p:sp>
        <p:nvSpPr>
          <p:cNvPr id="13" name="Text 11"/>
          <p:cNvSpPr txBox="1"/>
          <p:nvPr/>
        </p:nvSpPr>
        <p:spPr>
          <a:xfrm>
            <a:off x="8686800" y="1600200"/>
            <a:ext cx="2633472" cy="566928"/>
          </a:xfrm>
          <a:prstGeom prst="rect">
            <a:avLst/>
          </a:prstGeom>
          <a:noFill/>
          <a:ln/>
        </p:spPr>
        <p:txBody>
          <a:bodyPr wrap="square" lIns="0" tIns="0" rIns="0" bIns="0" rtlCol="0" anchor="ctr"/>
          <a:lstStyle/>
          <a:p>
            <a:pPr indent="0" marL="0">
              <a:buNone/>
            </a:pPr>
            <a:r>
              <a:rPr lang="en-US" sz="1450" b="1" dirty="0">
                <a:solidFill>
                  <a:srgbClr val="111820"/>
                </a:solidFill>
                <a:latin typeface="Calibri" pitchFamily="34" charset="0"/>
                <a:ea typeface="Calibri" pitchFamily="34" charset="-122"/>
                <a:cs typeface="Calibri" pitchFamily="34" charset="-120"/>
              </a:rPr>
              <a:t>No revocation</a:t>
            </a:r>
            <a:endParaRPr lang="en-US" sz="1450" dirty="0"/>
          </a:p>
        </p:txBody>
      </p:sp>
      <p:sp>
        <p:nvSpPr>
          <p:cNvPr id="14" name="Text 12"/>
          <p:cNvSpPr txBox="1"/>
          <p:nvPr/>
        </p:nvSpPr>
        <p:spPr>
          <a:xfrm>
            <a:off x="8394192" y="2258568"/>
            <a:ext cx="2953512"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A certificate cannot be withdrawn once issued; a compromised key stays trusted.</a:t>
            </a:r>
            <a:endParaRPr lang="en-US" sz="1250" dirty="0"/>
          </a:p>
        </p:txBody>
      </p:sp>
      <p:sp>
        <p:nvSpPr>
          <p:cNvPr id="15" name="Shape 13"/>
          <p:cNvSpPr/>
          <p:nvPr/>
        </p:nvSpPr>
        <p:spPr>
          <a:xfrm>
            <a:off x="548640" y="3749040"/>
            <a:ext cx="3502152" cy="1965960"/>
          </a:xfrm>
          <a:prstGeom prst="roundRect">
            <a:avLst>
              <a:gd name="adj" fmla="val 2791"/>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6" name="Shape 14"/>
          <p:cNvSpPr/>
          <p:nvPr/>
        </p:nvSpPr>
        <p:spPr>
          <a:xfrm>
            <a:off x="822960" y="4005072"/>
            <a:ext cx="182880" cy="182880"/>
          </a:xfrm>
          <a:prstGeom prst="ellipse">
            <a:avLst/>
          </a:prstGeom>
          <a:solidFill>
            <a:srgbClr val="C96A2B"/>
          </a:solidFill>
          <a:ln/>
        </p:spPr>
      </p:sp>
      <p:sp>
        <p:nvSpPr>
          <p:cNvPr id="17" name="Text 15"/>
          <p:cNvSpPr txBox="1"/>
          <p:nvPr/>
        </p:nvSpPr>
        <p:spPr>
          <a:xfrm>
            <a:off x="1115568" y="3931920"/>
            <a:ext cx="2633472" cy="566928"/>
          </a:xfrm>
          <a:prstGeom prst="rect">
            <a:avLst/>
          </a:prstGeom>
          <a:noFill/>
          <a:ln/>
        </p:spPr>
        <p:txBody>
          <a:bodyPr wrap="square" lIns="0" tIns="0" rIns="0" bIns="0" rtlCol="0" anchor="ctr"/>
          <a:lstStyle/>
          <a:p>
            <a:pPr indent="0" marL="0">
              <a:buNone/>
            </a:pPr>
            <a:r>
              <a:rPr lang="en-US" sz="1450" b="1" dirty="0">
                <a:solidFill>
                  <a:srgbClr val="111820"/>
                </a:solidFill>
                <a:latin typeface="Calibri" pitchFamily="34" charset="0"/>
                <a:ea typeface="Calibri" pitchFamily="34" charset="-122"/>
                <a:cs typeface="Calibri" pitchFamily="34" charset="-120"/>
              </a:rPr>
              <a:t>Metadata is visible</a:t>
            </a:r>
            <a:endParaRPr lang="en-US" sz="1450" dirty="0"/>
          </a:p>
        </p:txBody>
      </p:sp>
      <p:sp>
        <p:nvSpPr>
          <p:cNvPr id="18" name="Text 16"/>
          <p:cNvSpPr txBox="1"/>
          <p:nvPr/>
        </p:nvSpPr>
        <p:spPr>
          <a:xfrm>
            <a:off x="822960" y="4590288"/>
            <a:ext cx="2953512"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The server learns every file name, size and type, and who shared what with whom and when.</a:t>
            </a:r>
            <a:endParaRPr lang="en-US" sz="1250" dirty="0"/>
          </a:p>
        </p:txBody>
      </p:sp>
      <p:sp>
        <p:nvSpPr>
          <p:cNvPr id="19" name="Shape 17"/>
          <p:cNvSpPr/>
          <p:nvPr/>
        </p:nvSpPr>
        <p:spPr>
          <a:xfrm>
            <a:off x="4334256" y="3749040"/>
            <a:ext cx="3502152" cy="1965960"/>
          </a:xfrm>
          <a:prstGeom prst="roundRect">
            <a:avLst>
              <a:gd name="adj" fmla="val 2791"/>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20" name="Shape 18"/>
          <p:cNvSpPr/>
          <p:nvPr/>
        </p:nvSpPr>
        <p:spPr>
          <a:xfrm>
            <a:off x="4608576" y="4005072"/>
            <a:ext cx="182880" cy="182880"/>
          </a:xfrm>
          <a:prstGeom prst="ellipse">
            <a:avLst/>
          </a:prstGeom>
          <a:solidFill>
            <a:srgbClr val="C96A2B"/>
          </a:solidFill>
          <a:ln/>
        </p:spPr>
      </p:sp>
      <p:sp>
        <p:nvSpPr>
          <p:cNvPr id="21" name="Text 19"/>
          <p:cNvSpPr txBox="1"/>
          <p:nvPr/>
        </p:nvSpPr>
        <p:spPr>
          <a:xfrm>
            <a:off x="4901184" y="3931920"/>
            <a:ext cx="2633472" cy="566928"/>
          </a:xfrm>
          <a:prstGeom prst="rect">
            <a:avLst/>
          </a:prstGeom>
          <a:noFill/>
          <a:ln/>
        </p:spPr>
        <p:txBody>
          <a:bodyPr wrap="square" lIns="0" tIns="0" rIns="0" bIns="0" rtlCol="0" anchor="ctr"/>
          <a:lstStyle/>
          <a:p>
            <a:pPr indent="0" marL="0">
              <a:buNone/>
            </a:pPr>
            <a:r>
              <a:rPr lang="en-US" sz="1450" b="1" dirty="0">
                <a:solidFill>
                  <a:srgbClr val="111820"/>
                </a:solidFill>
                <a:latin typeface="Calibri" pitchFamily="34" charset="0"/>
                <a:ea typeface="Calibri" pitchFamily="34" charset="-122"/>
                <a:cs typeface="Calibri" pitchFamily="34" charset="-120"/>
              </a:rPr>
              <a:t>A guessable password is still guessable</a:t>
            </a:r>
            <a:endParaRPr lang="en-US" sz="1450" dirty="0"/>
          </a:p>
        </p:txBody>
      </p:sp>
      <p:sp>
        <p:nvSpPr>
          <p:cNvPr id="22" name="Text 20"/>
          <p:cNvSpPr txBox="1"/>
          <p:nvPr/>
        </p:nvSpPr>
        <p:spPr>
          <a:xfrm>
            <a:off x="4608576" y="4590288"/>
            <a:ext cx="2953512"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Argon2id raises the price per guess. It does not save a password that is in a word list.</a:t>
            </a:r>
            <a:endParaRPr lang="en-US" sz="1250" dirty="0"/>
          </a:p>
        </p:txBody>
      </p:sp>
      <p:sp>
        <p:nvSpPr>
          <p:cNvPr id="23" name="Shape 21"/>
          <p:cNvSpPr/>
          <p:nvPr/>
        </p:nvSpPr>
        <p:spPr>
          <a:xfrm>
            <a:off x="8119872" y="3749040"/>
            <a:ext cx="3502152" cy="1965960"/>
          </a:xfrm>
          <a:prstGeom prst="roundRect">
            <a:avLst>
              <a:gd name="adj" fmla="val 2791"/>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24" name="Shape 22"/>
          <p:cNvSpPr/>
          <p:nvPr/>
        </p:nvSpPr>
        <p:spPr>
          <a:xfrm>
            <a:off x="8394192" y="4005072"/>
            <a:ext cx="182880" cy="182880"/>
          </a:xfrm>
          <a:prstGeom prst="ellipse">
            <a:avLst/>
          </a:prstGeom>
          <a:solidFill>
            <a:srgbClr val="C96A2B"/>
          </a:solidFill>
          <a:ln/>
        </p:spPr>
      </p:sp>
      <p:sp>
        <p:nvSpPr>
          <p:cNvPr id="25" name="Text 23"/>
          <p:cNvSpPr txBox="1"/>
          <p:nvPr/>
        </p:nvSpPr>
        <p:spPr>
          <a:xfrm>
            <a:off x="8686800" y="3931920"/>
            <a:ext cx="2633472" cy="566928"/>
          </a:xfrm>
          <a:prstGeom prst="rect">
            <a:avLst/>
          </a:prstGeom>
          <a:noFill/>
          <a:ln/>
        </p:spPr>
        <p:txBody>
          <a:bodyPr wrap="square" lIns="0" tIns="0" rIns="0" bIns="0" rtlCol="0" anchor="ctr"/>
          <a:lstStyle/>
          <a:p>
            <a:pPr indent="0" marL="0">
              <a:buNone/>
            </a:pPr>
            <a:r>
              <a:rPr lang="en-US" sz="1450" b="1" dirty="0">
                <a:solidFill>
                  <a:srgbClr val="111820"/>
                </a:solidFill>
                <a:latin typeface="Calibri" pitchFamily="34" charset="0"/>
                <a:ea typeface="Calibri" pitchFamily="34" charset="-122"/>
                <a:cs typeface="Calibri" pitchFamily="34" charset="-120"/>
              </a:rPr>
              <a:t>Not side-channel hardened</a:t>
            </a:r>
            <a:endParaRPr lang="en-US" sz="1450" dirty="0"/>
          </a:p>
        </p:txBody>
      </p:sp>
      <p:sp>
        <p:nvSpPr>
          <p:cNvPr id="26" name="Text 24"/>
          <p:cNvSpPr txBox="1"/>
          <p:nvPr/>
        </p:nvSpPr>
        <p:spPr>
          <a:xfrm>
            <a:off x="8394192" y="4590288"/>
            <a:ext cx="2953512" cy="777240"/>
          </a:xfrm>
          <a:prstGeom prst="rect">
            <a:avLst/>
          </a:prstGeom>
          <a:noFill/>
          <a:ln/>
        </p:spPr>
        <p:txBody>
          <a:bodyPr wrap="square" lIns="0" tIns="0" rIns="0" bIns="0" rtlCol="0" anchor="t"/>
          <a:lstStyle/>
          <a:p>
            <a:pPr algn="l" indent="0" marL="0">
              <a:lnSpc>
                <a:spcPct val="118000"/>
              </a:lnSpc>
              <a:buNone/>
            </a:pPr>
            <a:r>
              <a:rPr lang="en-US" sz="1250" dirty="0">
                <a:solidFill>
                  <a:srgbClr val="3C4655"/>
                </a:solidFill>
                <a:latin typeface="Calibri" pitchFamily="34" charset="0"/>
                <a:ea typeface="Calibri" pitchFamily="34" charset="-122"/>
                <a:cs typeface="Calibri" pitchFamily="34" charset="-120"/>
              </a:rPr>
              <a:t>We fixed the loop bound in scalar_mult, then measured and found the fix incomplete. The report says so.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FEA"/>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11820"/>
                </a:solidFill>
                <a:latin typeface="Cambria" pitchFamily="34" charset="0"/>
                <a:ea typeface="Cambria" pitchFamily="34" charset="-122"/>
                <a:cs typeface="Cambria" pitchFamily="34" charset="-120"/>
              </a:rPr>
              <a:t>Contributions and use of AI tools</a:t>
            </a:r>
            <a:endParaRPr lang="en-US" sz="3200" dirty="0"/>
          </a:p>
        </p:txBody>
      </p:sp>
      <p:sp>
        <p:nvSpPr>
          <p:cNvPr id="3" name="Shape 1"/>
          <p:cNvSpPr/>
          <p:nvPr/>
        </p:nvSpPr>
        <p:spPr>
          <a:xfrm>
            <a:off x="548640" y="1371600"/>
            <a:ext cx="11064240" cy="1234440"/>
          </a:xfrm>
          <a:prstGeom prst="roundRect">
            <a:avLst>
              <a:gd name="adj" fmla="val 4444"/>
            </a:avLst>
          </a:prstGeom>
          <a:solidFill>
            <a:srgbClr val="FFFFFF"/>
          </a:solidFill>
          <a:ln/>
        </p:spPr>
      </p:sp>
      <p:sp>
        <p:nvSpPr>
          <p:cNvPr id="4" name="Shape 2"/>
          <p:cNvSpPr/>
          <p:nvPr/>
        </p:nvSpPr>
        <p:spPr>
          <a:xfrm>
            <a:off x="548640" y="1371600"/>
            <a:ext cx="11064240" cy="1234440"/>
          </a:xfrm>
          <a:prstGeom prst="roundRect">
            <a:avLst>
              <a:gd name="adj" fmla="val 4444"/>
            </a:avLst>
          </a:prstGeom>
          <a:ln w="25400">
            <a:solidFill>
              <a:srgbClr val="C96A2B"/>
            </a:solidFill>
            <a:prstDash val="dash"/>
          </a:ln>
        </p:spPr>
      </p:sp>
      <p:sp>
        <p:nvSpPr>
          <p:cNvPr id="5" name="Text 3"/>
          <p:cNvSpPr txBox="1"/>
          <p:nvPr/>
        </p:nvSpPr>
        <p:spPr>
          <a:xfrm>
            <a:off x="896112" y="1572768"/>
            <a:ext cx="10369296" cy="329184"/>
          </a:xfrm>
          <a:prstGeom prst="rect">
            <a:avLst/>
          </a:prstGeom>
          <a:noFill/>
          <a:ln/>
        </p:spPr>
        <p:txBody>
          <a:bodyPr wrap="square" lIns="0" tIns="0" rIns="0" bIns="0" rtlCol="0" anchor="ctr"/>
          <a:lstStyle/>
          <a:p>
            <a:pPr indent="0" marL="0">
              <a:buNone/>
            </a:pPr>
            <a:r>
              <a:rPr lang="en-US" sz="1400" b="1" dirty="0">
                <a:solidFill>
                  <a:srgbClr val="C96A2B"/>
                </a:solidFill>
                <a:latin typeface="Courier New" pitchFamily="34" charset="0"/>
                <a:ea typeface="Courier New" pitchFamily="34" charset="-122"/>
                <a:cs typeface="Courier New" pitchFamily="34" charset="-120"/>
              </a:rPr>
              <a:t>[ THE TEAM COMPLETES THIS SLIDE ]</a:t>
            </a:r>
            <a:endParaRPr lang="en-US" sz="1400" dirty="0"/>
          </a:p>
        </p:txBody>
      </p:sp>
      <p:sp>
        <p:nvSpPr>
          <p:cNvPr id="6" name="Text 4"/>
          <p:cNvSpPr txBox="1"/>
          <p:nvPr/>
        </p:nvSpPr>
        <p:spPr>
          <a:xfrm>
            <a:off x="896112" y="1956816"/>
            <a:ext cx="10369296" cy="548640"/>
          </a:xfrm>
          <a:prstGeom prst="rect">
            <a:avLst/>
          </a:prstGeom>
          <a:noFill/>
          <a:ln/>
        </p:spPr>
        <p:txBody>
          <a:bodyPr wrap="square" lIns="0" tIns="0" rIns="0" bIns="0" rtlCol="0" anchor="t"/>
          <a:lstStyle/>
          <a:p>
            <a:pPr algn="l" indent="0" marL="0">
              <a:lnSpc>
                <a:spcPct val="118000"/>
              </a:lnSpc>
              <a:buNone/>
            </a:pPr>
            <a:r>
              <a:rPr lang="en-US" sz="1400" dirty="0">
                <a:solidFill>
                  <a:srgbClr val="3C4655"/>
                </a:solidFill>
                <a:latin typeface="Calibri" pitchFamily="34" charset="0"/>
                <a:ea typeface="Calibri" pitchFamily="34" charset="-122"/>
                <a:cs typeface="Calibri" pitchFamily="34" charset="-120"/>
              </a:rPr>
              <a:t>This slide must say the same thing as sections 6 and 7 of the report, word for word where it overlaps. If the slide and the report disagree, the disagreement is what gets noticed.</a:t>
            </a:r>
            <a:endParaRPr lang="en-US" sz="1400" dirty="0"/>
          </a:p>
        </p:txBody>
      </p:sp>
      <p:sp>
        <p:nvSpPr>
          <p:cNvPr id="7" name="Shape 5"/>
          <p:cNvSpPr/>
          <p:nvPr/>
        </p:nvSpPr>
        <p:spPr>
          <a:xfrm>
            <a:off x="548640" y="2880360"/>
            <a:ext cx="5349240" cy="2651760"/>
          </a:xfrm>
          <a:prstGeom prst="roundRect">
            <a:avLst>
              <a:gd name="adj" fmla="val 2069"/>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8" name="Text 6"/>
          <p:cNvSpPr txBox="1"/>
          <p:nvPr/>
        </p:nvSpPr>
        <p:spPr>
          <a:xfrm>
            <a:off x="868680" y="3090672"/>
            <a:ext cx="4709160" cy="292608"/>
          </a:xfrm>
          <a:prstGeom prst="rect">
            <a:avLst/>
          </a:prstGeom>
          <a:noFill/>
          <a:ln/>
        </p:spPr>
        <p:txBody>
          <a:bodyPr wrap="square" lIns="0" tIns="0" rIns="0" bIns="0" rtlCol="0" anchor="ctr"/>
          <a:lstStyle/>
          <a:p>
            <a:pPr indent="0" marL="0">
              <a:buNone/>
            </a:pPr>
            <a:r>
              <a:rPr lang="en-US" sz="1600" b="1" dirty="0">
                <a:solidFill>
                  <a:srgbClr val="2F6FD0"/>
                </a:solidFill>
                <a:latin typeface="Calibri" pitchFamily="34" charset="0"/>
                <a:ea typeface="Calibri" pitchFamily="34" charset="-122"/>
                <a:cs typeface="Calibri" pitchFamily="34" charset="-120"/>
              </a:rPr>
              <a:t>Who wrote which component</a:t>
            </a:r>
            <a:endParaRPr lang="en-US" sz="1600" dirty="0"/>
          </a:p>
        </p:txBody>
      </p:sp>
      <p:sp>
        <p:nvSpPr>
          <p:cNvPr id="9" name="Text 7"/>
          <p:cNvSpPr txBox="1"/>
          <p:nvPr/>
        </p:nvSpPr>
        <p:spPr>
          <a:xfrm>
            <a:off x="868680" y="3474720"/>
            <a:ext cx="4709160" cy="82296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Name each member and the files they wrote. Specific work, not percentages — each member is questioned separately, so a name beside a file is a commitment to explain it.</a:t>
            </a:r>
            <a:endParaRPr lang="en-US" sz="1300" dirty="0"/>
          </a:p>
        </p:txBody>
      </p:sp>
      <p:sp>
        <p:nvSpPr>
          <p:cNvPr id="10" name="Text 8"/>
          <p:cNvSpPr txBox="1"/>
          <p:nvPr/>
        </p:nvSpPr>
        <p:spPr>
          <a:xfrm>
            <a:off x="868680" y="4389120"/>
            <a:ext cx="4709160" cy="914400"/>
          </a:xfrm>
          <a:prstGeom prst="rect">
            <a:avLst/>
          </a:prstGeom>
          <a:noFill/>
          <a:ln/>
        </p:spPr>
        <p:txBody>
          <a:bodyPr wrap="square" lIns="0" tIns="0" rIns="0" bIns="0" rtlCol="0" anchor="ctr"/>
          <a:lstStyle/>
          <a:p>
            <a:pPr indent="0" marL="0">
              <a:lnSpc>
                <a:spcPct val="140000"/>
              </a:lnSpc>
              <a:buNone/>
            </a:pPr>
            <a:r>
              <a:rPr lang="en-US" sz="1250" dirty="0">
                <a:solidFill>
                  <a:srgbClr val="111820"/>
                </a:solidFill>
                <a:latin typeface="Courier New" pitchFamily="34" charset="0"/>
                <a:ea typeface="Courier New" pitchFamily="34" charset="-122"/>
                <a:cs typeface="Courier New" pitchFamily="34" charset="-120"/>
              </a:rPr>
              <a:t>Abdallah Hattab — [ … ]</a:t>
            </a:r>
            <a:endParaRPr lang="en-US" sz="1250" dirty="0"/>
          </a:p>
          <a:p>
            <a:pPr indent="0" marL="0">
              <a:lnSpc>
                <a:spcPct val="140000"/>
              </a:lnSpc>
              <a:buNone/>
            </a:pPr>
            <a:r>
              <a:rPr lang="en-US" sz="1250" dirty="0">
                <a:solidFill>
                  <a:srgbClr val="111820"/>
                </a:solidFill>
                <a:latin typeface="Courier New" pitchFamily="34" charset="0"/>
                <a:ea typeface="Courier New" pitchFamily="34" charset="-122"/>
                <a:cs typeface="Courier New" pitchFamily="34" charset="-120"/>
              </a:rPr>
              <a:t>Abdallah Murra — [ … ]</a:t>
            </a:r>
            <a:endParaRPr lang="en-US" sz="1250" dirty="0"/>
          </a:p>
          <a:p>
            <a:pPr indent="0" marL="0">
              <a:lnSpc>
                <a:spcPct val="140000"/>
              </a:lnSpc>
              <a:buNone/>
            </a:pPr>
            <a:r>
              <a:rPr lang="en-US" sz="1250" dirty="0">
                <a:solidFill>
                  <a:srgbClr val="111820"/>
                </a:solidFill>
                <a:latin typeface="Courier New" pitchFamily="34" charset="0"/>
                <a:ea typeface="Courier New" pitchFamily="34" charset="-122"/>
                <a:cs typeface="Courier New" pitchFamily="34" charset="-120"/>
              </a:rPr>
              <a:t>Osama Aabed — [ … ]</a:t>
            </a:r>
            <a:endParaRPr lang="en-US" sz="1250" dirty="0"/>
          </a:p>
        </p:txBody>
      </p:sp>
      <p:sp>
        <p:nvSpPr>
          <p:cNvPr id="11" name="Shape 9"/>
          <p:cNvSpPr/>
          <p:nvPr/>
        </p:nvSpPr>
        <p:spPr>
          <a:xfrm>
            <a:off x="6263640" y="2880360"/>
            <a:ext cx="5349240" cy="2651760"/>
          </a:xfrm>
          <a:prstGeom prst="roundRect">
            <a:avLst>
              <a:gd name="adj" fmla="val 2069"/>
            </a:avLst>
          </a:prstGeom>
          <a:solidFill>
            <a:srgbClr val="FFFFFF"/>
          </a:solidFill>
          <a:ln w="12700">
            <a:solidFill>
              <a:srgbClr val="DCDFD8"/>
            </a:solidFill>
            <a:prstDash val="solid"/>
          </a:ln>
          <a:effectLst>
            <a:outerShdw sx="100000" sy="100000" kx="0" ky="0" algn="bl" rotWithShape="0" blurRad="76200" dist="12700" dir="5400000">
              <a:srgbClr val="9AA4B0">
                <a:alpha val="22000"/>
              </a:srgbClr>
            </a:outerShdw>
          </a:effectLst>
        </p:spPr>
      </p:sp>
      <p:sp>
        <p:nvSpPr>
          <p:cNvPr id="12" name="Text 10"/>
          <p:cNvSpPr txBox="1"/>
          <p:nvPr/>
        </p:nvSpPr>
        <p:spPr>
          <a:xfrm>
            <a:off x="6583680" y="3090672"/>
            <a:ext cx="4709160" cy="292608"/>
          </a:xfrm>
          <a:prstGeom prst="rect">
            <a:avLst/>
          </a:prstGeom>
          <a:noFill/>
          <a:ln/>
        </p:spPr>
        <p:txBody>
          <a:bodyPr wrap="square" lIns="0" tIns="0" rIns="0" bIns="0" rtlCol="0" anchor="ctr"/>
          <a:lstStyle/>
          <a:p>
            <a:pPr indent="0" marL="0">
              <a:buNone/>
            </a:pPr>
            <a:r>
              <a:rPr lang="en-US" sz="1600" b="1" dirty="0">
                <a:solidFill>
                  <a:srgbClr val="2F6FD0"/>
                </a:solidFill>
                <a:latin typeface="Calibri" pitchFamily="34" charset="0"/>
                <a:ea typeface="Calibri" pitchFamily="34" charset="-122"/>
                <a:cs typeface="Calibri" pitchFamily="34" charset="-120"/>
              </a:rPr>
              <a:t>Which tools were used, and how</a:t>
            </a:r>
            <a:endParaRPr lang="en-US" sz="1600" dirty="0"/>
          </a:p>
        </p:txBody>
      </p:sp>
      <p:sp>
        <p:nvSpPr>
          <p:cNvPr id="13" name="Text 11"/>
          <p:cNvSpPr txBox="1"/>
          <p:nvPr/>
        </p:nvSpPr>
        <p:spPr>
          <a:xfrm>
            <a:off x="6583680" y="3474720"/>
            <a:ext cx="4709160" cy="960120"/>
          </a:xfrm>
          <a:prstGeom prst="rect">
            <a:avLst/>
          </a:prstGeom>
          <a:noFill/>
          <a:ln/>
        </p:spPr>
        <p:txBody>
          <a:bodyPr wrap="square" lIns="0" tIns="0" rIns="0" bIns="0" rtlCol="0" anchor="t"/>
          <a:lstStyle/>
          <a:p>
            <a:pPr algn="l" indent="0" marL="0">
              <a:lnSpc>
                <a:spcPct val="118000"/>
              </a:lnSpc>
              <a:buNone/>
            </a:pPr>
            <a:r>
              <a:rPr lang="en-US" sz="1300" dirty="0">
                <a:solidFill>
                  <a:srgbClr val="3C4655"/>
                </a:solidFill>
                <a:latin typeface="Calibri" pitchFamily="34" charset="0"/>
                <a:ea typeface="Calibri" pitchFamily="34" charset="-122"/>
                <a:cs typeface="Calibri" pitchFamily="34" charset="-120"/>
              </a:rPr>
              <a:t>Section 14 requires the statement to name the tools, state exactly how each was used, and state which parts were produced with no AI assistance. Omitting it when tools were used is the violation.</a:t>
            </a:r>
            <a:endParaRPr lang="en-US" sz="1300" dirty="0"/>
          </a:p>
        </p:txBody>
      </p:sp>
      <p:sp>
        <p:nvSpPr>
          <p:cNvPr id="14" name="Text 12"/>
          <p:cNvSpPr txBox="1"/>
          <p:nvPr/>
        </p:nvSpPr>
        <p:spPr>
          <a:xfrm>
            <a:off x="6583680" y="4526280"/>
            <a:ext cx="4709160" cy="457200"/>
          </a:xfrm>
          <a:prstGeom prst="rect">
            <a:avLst/>
          </a:prstGeom>
          <a:noFill/>
          <a:ln/>
        </p:spPr>
        <p:txBody>
          <a:bodyPr wrap="square" lIns="0" tIns="0" rIns="0" bIns="0" rtlCol="0" anchor="t"/>
          <a:lstStyle/>
          <a:p>
            <a:pPr algn="l" indent="0" marL="0">
              <a:lnSpc>
                <a:spcPct val="118000"/>
              </a:lnSpc>
              <a:buNone/>
            </a:pPr>
            <a:r>
              <a:rPr lang="en-US" sz="1300" b="1" dirty="0">
                <a:solidFill>
                  <a:srgbClr val="3C4655"/>
                </a:solidFill>
                <a:latin typeface="Calibri" pitchFamily="34" charset="0"/>
                <a:ea typeface="Calibri" pitchFamily="34" charset="-122"/>
                <a:cs typeface="Calibri" pitchFamily="34" charset="-120"/>
              </a:rPr>
              <a:t>Fill this from section 6 of the report once section 6 is accurate.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ctr"/>
          <a:lstStyle/>
          <a:p>
            <a:pPr indent="0" marL="0">
              <a:buNone/>
            </a:pPr>
            <a:r>
              <a:rPr lang="en-US" sz="1100" b="1" spc="160" kern="0" dirty="0">
                <a:solidFill>
                  <a:srgbClr val="C96A2B"/>
                </a:solidFill>
                <a:latin typeface="Courier New" pitchFamily="34" charset="0"/>
                <a:ea typeface="Courier New" pitchFamily="34" charset="-122"/>
                <a:cs typeface="Courier New" pitchFamily="34" charset="-120"/>
              </a:rPr>
              <a:t>SECUREVAULT  ·  ENCS4320</a:t>
            </a:r>
            <a:endParaRPr lang="en-US" sz="1100" dirty="0"/>
          </a:p>
        </p:txBody>
      </p:sp>
      <p:sp>
        <p:nvSpPr>
          <p:cNvPr id="3" name="Text 1"/>
          <p:cNvSpPr txBox="1"/>
          <p:nvPr/>
        </p:nvSpPr>
        <p:spPr>
          <a:xfrm>
            <a:off x="548640" y="1874520"/>
            <a:ext cx="11064240" cy="1188720"/>
          </a:xfrm>
          <a:prstGeom prst="rect">
            <a:avLst/>
          </a:prstGeom>
          <a:noFill/>
          <a:ln/>
        </p:spPr>
        <p:txBody>
          <a:bodyPr wrap="square" lIns="0" tIns="0" rIns="0" bIns="0" rtlCol="0" anchor="ctr"/>
          <a:lstStyle/>
          <a:p>
            <a:pPr indent="0" marL="0">
              <a:buNone/>
            </a:pPr>
            <a:r>
              <a:rPr lang="en-US" sz="5400" b="1" dirty="0">
                <a:solidFill>
                  <a:srgbClr val="F7F8F5"/>
                </a:solidFill>
                <a:latin typeface="Cambria" pitchFamily="34" charset="0"/>
                <a:ea typeface="Cambria" pitchFamily="34" charset="-122"/>
                <a:cs typeface="Cambria" pitchFamily="34" charset="-120"/>
              </a:rPr>
              <a:t>Questions</a:t>
            </a:r>
            <a:endParaRPr lang="en-US" sz="5400" dirty="0"/>
          </a:p>
        </p:txBody>
      </p:sp>
      <p:sp>
        <p:nvSpPr>
          <p:cNvPr id="4" name="Text 2"/>
          <p:cNvSpPr txBox="1"/>
          <p:nvPr/>
        </p:nvSpPr>
        <p:spPr>
          <a:xfrm>
            <a:off x="548640" y="3200400"/>
            <a:ext cx="9326880" cy="731520"/>
          </a:xfrm>
          <a:prstGeom prst="rect">
            <a:avLst/>
          </a:prstGeom>
          <a:noFill/>
          <a:ln/>
        </p:spPr>
        <p:txBody>
          <a:bodyPr wrap="square" lIns="0" tIns="0" rIns="0" bIns="0" rtlCol="0" anchor="t"/>
          <a:lstStyle/>
          <a:p>
            <a:pPr algn="l" indent="0" marL="0">
              <a:lnSpc>
                <a:spcPct val="118000"/>
              </a:lnSpc>
              <a:buNone/>
            </a:pPr>
            <a:r>
              <a:rPr lang="en-US" sz="1700" dirty="0">
                <a:solidFill>
                  <a:srgbClr val="B9C4D0"/>
                </a:solidFill>
                <a:latin typeface="Calibri" pitchFamily="34" charset="0"/>
                <a:ea typeface="Calibri" pitchFamily="34" charset="-122"/>
                <a:cs typeface="Calibri" pitchFamily="34" charset="-120"/>
              </a:rPr>
              <a:t>Every cryptographic component is ours, every work factor is measured, and every limitation we found is written down.</a:t>
            </a:r>
            <a:endParaRPr lang="en-US" sz="1700" dirty="0"/>
          </a:p>
        </p:txBody>
      </p:sp>
      <p:sp>
        <p:nvSpPr>
          <p:cNvPr id="5" name="Text 3"/>
          <p:cNvSpPr txBox="1"/>
          <p:nvPr/>
        </p:nvSpPr>
        <p:spPr>
          <a:xfrm>
            <a:off x="548640" y="4846320"/>
            <a:ext cx="3566160" cy="256032"/>
          </a:xfrm>
          <a:prstGeom prst="rect">
            <a:avLst/>
          </a:prstGeom>
          <a:noFill/>
          <a:ln/>
        </p:spPr>
        <p:txBody>
          <a:bodyPr wrap="square" lIns="0" tIns="0" rIns="0" bIns="0" rtlCol="0" anchor="ctr"/>
          <a:lstStyle/>
          <a:p>
            <a:pPr indent="0" marL="0">
              <a:buNone/>
            </a:pPr>
            <a:r>
              <a:rPr lang="en-US" sz="1150" dirty="0">
                <a:solidFill>
                  <a:srgbClr val="8E9BAA"/>
                </a:solidFill>
                <a:latin typeface="Calibri" pitchFamily="34" charset="0"/>
                <a:ea typeface="Calibri" pitchFamily="34" charset="-122"/>
                <a:cs typeface="Calibri" pitchFamily="34" charset="-120"/>
              </a:rPr>
              <a:t>Repository</a:t>
            </a:r>
            <a:endParaRPr lang="en-US" sz="1150" dirty="0"/>
          </a:p>
        </p:txBody>
      </p:sp>
      <p:sp>
        <p:nvSpPr>
          <p:cNvPr id="6" name="Text 4"/>
          <p:cNvSpPr txBox="1"/>
          <p:nvPr/>
        </p:nvSpPr>
        <p:spPr>
          <a:xfrm>
            <a:off x="548640" y="5138928"/>
            <a:ext cx="3566160" cy="292608"/>
          </a:xfrm>
          <a:prstGeom prst="rect">
            <a:avLst/>
          </a:prstGeom>
          <a:noFill/>
          <a:ln/>
        </p:spPr>
        <p:txBody>
          <a:bodyPr wrap="square" lIns="0" tIns="0" rIns="0" bIns="0" rtlCol="0" anchor="ctr"/>
          <a:lstStyle/>
          <a:p>
            <a:pPr indent="0" marL="0">
              <a:buNone/>
            </a:pPr>
            <a:r>
              <a:rPr lang="en-US" sz="1300" dirty="0">
                <a:solidFill>
                  <a:srgbClr val="F7F8F5"/>
                </a:solidFill>
                <a:latin typeface="Courier New" pitchFamily="34" charset="0"/>
                <a:ea typeface="Courier New" pitchFamily="34" charset="-122"/>
                <a:cs typeface="Courier New" pitchFamily="34" charset="-120"/>
              </a:rPr>
              <a:t>github.com/abdullah-hattab</a:t>
            </a:r>
            <a:endParaRPr lang="en-US" sz="1300" dirty="0"/>
          </a:p>
        </p:txBody>
      </p:sp>
      <p:sp>
        <p:nvSpPr>
          <p:cNvPr id="7" name="Text 5"/>
          <p:cNvSpPr txBox="1"/>
          <p:nvPr/>
        </p:nvSpPr>
        <p:spPr>
          <a:xfrm>
            <a:off x="4297680" y="4846320"/>
            <a:ext cx="3566160" cy="256032"/>
          </a:xfrm>
          <a:prstGeom prst="rect">
            <a:avLst/>
          </a:prstGeom>
          <a:noFill/>
          <a:ln/>
        </p:spPr>
        <p:txBody>
          <a:bodyPr wrap="square" lIns="0" tIns="0" rIns="0" bIns="0" rtlCol="0" anchor="ctr"/>
          <a:lstStyle/>
          <a:p>
            <a:pPr indent="0" marL="0">
              <a:buNone/>
            </a:pPr>
            <a:r>
              <a:rPr lang="en-US" sz="1150" dirty="0">
                <a:solidFill>
                  <a:srgbClr val="8E9BAA"/>
                </a:solidFill>
                <a:latin typeface="Calibri" pitchFamily="34" charset="0"/>
                <a:ea typeface="Calibri" pitchFamily="34" charset="-122"/>
                <a:cs typeface="Calibri" pitchFamily="34" charset="-120"/>
              </a:rPr>
              <a:t>Run it</a:t>
            </a:r>
            <a:endParaRPr lang="en-US" sz="1150" dirty="0"/>
          </a:p>
        </p:txBody>
      </p:sp>
      <p:sp>
        <p:nvSpPr>
          <p:cNvPr id="8" name="Text 6"/>
          <p:cNvSpPr txBox="1"/>
          <p:nvPr/>
        </p:nvSpPr>
        <p:spPr>
          <a:xfrm>
            <a:off x="4297680" y="5138928"/>
            <a:ext cx="3566160" cy="292608"/>
          </a:xfrm>
          <a:prstGeom prst="rect">
            <a:avLst/>
          </a:prstGeom>
          <a:noFill/>
          <a:ln/>
        </p:spPr>
        <p:txBody>
          <a:bodyPr wrap="square" lIns="0" tIns="0" rIns="0" bIns="0" rtlCol="0" anchor="ctr"/>
          <a:lstStyle/>
          <a:p>
            <a:pPr indent="0" marL="0">
              <a:buNone/>
            </a:pPr>
            <a:r>
              <a:rPr lang="en-US" sz="1300" dirty="0">
                <a:solidFill>
                  <a:srgbClr val="F7F8F5"/>
                </a:solidFill>
                <a:latin typeface="Courier New" pitchFamily="34" charset="0"/>
                <a:ea typeface="Courier New" pitchFamily="34" charset="-122"/>
                <a:cs typeface="Courier New" pitchFamily="34" charset="-120"/>
              </a:rPr>
              <a:t>python demo/run_demo.py</a:t>
            </a:r>
            <a:endParaRPr lang="en-US" sz="1300" dirty="0"/>
          </a:p>
        </p:txBody>
      </p:sp>
      <p:sp>
        <p:nvSpPr>
          <p:cNvPr id="9" name="Text 7"/>
          <p:cNvSpPr txBox="1"/>
          <p:nvPr/>
        </p:nvSpPr>
        <p:spPr>
          <a:xfrm>
            <a:off x="8046720" y="4846320"/>
            <a:ext cx="3566160" cy="256032"/>
          </a:xfrm>
          <a:prstGeom prst="rect">
            <a:avLst/>
          </a:prstGeom>
          <a:noFill/>
          <a:ln/>
        </p:spPr>
        <p:txBody>
          <a:bodyPr wrap="square" lIns="0" tIns="0" rIns="0" bIns="0" rtlCol="0" anchor="ctr"/>
          <a:lstStyle/>
          <a:p>
            <a:pPr indent="0" marL="0">
              <a:buNone/>
            </a:pPr>
            <a:r>
              <a:rPr lang="en-US" sz="1150" dirty="0">
                <a:solidFill>
                  <a:srgbClr val="8E9BAA"/>
                </a:solidFill>
                <a:latin typeface="Calibri" pitchFamily="34" charset="0"/>
                <a:ea typeface="Calibri" pitchFamily="34" charset="-122"/>
                <a:cs typeface="Calibri" pitchFamily="34" charset="-120"/>
              </a:rPr>
              <a:t>Tests</a:t>
            </a:r>
            <a:endParaRPr lang="en-US" sz="1150" dirty="0"/>
          </a:p>
        </p:txBody>
      </p:sp>
      <p:sp>
        <p:nvSpPr>
          <p:cNvPr id="10" name="Text 8"/>
          <p:cNvSpPr txBox="1"/>
          <p:nvPr/>
        </p:nvSpPr>
        <p:spPr>
          <a:xfrm>
            <a:off x="8046720" y="5138928"/>
            <a:ext cx="3566160" cy="292608"/>
          </a:xfrm>
          <a:prstGeom prst="rect">
            <a:avLst/>
          </a:prstGeom>
          <a:noFill/>
          <a:ln/>
        </p:spPr>
        <p:txBody>
          <a:bodyPr wrap="square" lIns="0" tIns="0" rIns="0" bIns="0" rtlCol="0" anchor="ctr"/>
          <a:lstStyle/>
          <a:p>
            <a:pPr indent="0" marL="0">
              <a:buNone/>
            </a:pPr>
            <a:r>
              <a:rPr lang="en-US" sz="1300" dirty="0">
                <a:solidFill>
                  <a:srgbClr val="F7F8F5"/>
                </a:solidFill>
                <a:latin typeface="Courier New" pitchFamily="34" charset="0"/>
                <a:ea typeface="Courier New" pitchFamily="34" charset="-122"/>
                <a:cs typeface="Courier New" pitchFamily="34" charset="-120"/>
              </a:rPr>
              <a:t>python -m pytest tests/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SecureVault - ENCS4320</dc:title>
  <dc:subject>PptxGenJS Presentation</dc:subject>
  <dc:creator>Abdallah Hattab, Abdallah Murra, Osama Aabed</dc:creator>
  <cp:lastModifiedBy>Abdallah Hattab, Abdallah Murra, Osama Aabed</cp:lastModifiedBy>
  <cp:revision>1</cp:revision>
  <dcterms:created xsi:type="dcterms:W3CDTF">2026-09-27T20:53:34Z</dcterms:created>
  <dcterms:modified xsi:type="dcterms:W3CDTF">2026-09-27T20:53:34Z</dcterms:modified>
</cp:coreProperties>
</file>